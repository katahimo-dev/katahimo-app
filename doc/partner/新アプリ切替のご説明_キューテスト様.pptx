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ログイン画面と、今日の予定・道順の画面です。文字・ボタン・色まで今のアプリと同じにしてあります。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今のアプリと新しいアプリを同じ場面・同じデータで撮影して比べる仕組みを作り、124の場面で違いが0.05%以下であることを確かめています。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暗号化するのは、日報の本文、お子様のアレルギーや配慮事項、ご家族の連絡先や電話番号、メモなど、特に大切な項目です。パスワードの再設定は今と同じく、メールで届く6桁の番号(30分有効)で行います。何度も試せないよう回数も制限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WORKSで翌日の道順を送っている古い仕組み(ルート検索の夜間処理)は、新しいアプリでは代わりを作っていません。業務で必要かどうかをご確認ください。不要と確認できた時点で止めます。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す。いちばん大きいのは、書き写しやパスワード再設定メールを送るために常に動かしている処理(約45〜55ドル)で、定期的に起動する方式に変えるなど、費用を下げる選択肢もあります。地図は、スタッフ20人が1日3件訪問する程度なら毎月の無料枠内に収まる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21</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画面の見た目・言葉・操作の順番は今と同じ。ログインも今のパスワードで。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大切な情報の暗号化、会社ごとのデータの分離、操作の記録、同時に直したときの保護。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21</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21</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今の画面と使い方はそのままに、中身を「会社の業務システム」として作り直したものです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左が今のアプリ、右が新しいアプリです。同じデータで撮影しました(架空の人物・住所)。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お客様の情報や、AIが下書きする日報も、今と同じ流れで使えます。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出勤簿も、週の一覧・1日の表示・修正の流れまで同じです。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見た目のそろえ方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今のアプリと新しいアプリの画面を、同じ場面で124通り撮影して比べています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どの場面も、違いは画面全体の0.05%以下</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意図して変えたのは、安全や使いやすさのための細かな点だけです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21</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21</a:t>
            </a:r>
          </a:p>
        </p:txBody>
      </p:sp>
      <p:sp>
        <p:nvSpPr>
          <p:cNvPr id="6" name="Rounded Rectangle 5"/>
          <p:cNvSpPr/>
          <p:nvPr/>
        </p:nvSpPr>
        <p:spPr>
          <a:xfrm>
            <a:off x="548640" y="1371600"/>
            <a:ext cx="5440680" cy="14173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69164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大切な情報は暗号化</a:t>
            </a:r>
          </a:p>
        </p:txBody>
      </p:sp>
      <p:sp>
        <p:nvSpPr>
          <p:cNvPr id="9" name="TextBox 8"/>
          <p:cNvSpPr txBox="1"/>
          <p:nvPr/>
        </p:nvSpPr>
        <p:spPr>
          <a:xfrm>
            <a:off x="1691640" y="1938528"/>
            <a:ext cx="4114800" cy="8229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日報の本文、お子様のアレルギー、連絡先の電話番号などは暗号にして保存</a:t>
            </a:r>
          </a:p>
        </p:txBody>
      </p:sp>
      <p:sp>
        <p:nvSpPr>
          <p:cNvPr id="10" name="Rounded Rectangle 9"/>
          <p:cNvSpPr/>
          <p:nvPr/>
        </p:nvSpPr>
        <p:spPr>
          <a:xfrm>
            <a:off x="6153912" y="1371600"/>
            <a:ext cx="5440680" cy="14173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382512" y="169164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7296912" y="148132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7296912" y="1938528"/>
            <a:ext cx="4114800" cy="8229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548640" y="2944368"/>
            <a:ext cx="5440680" cy="14173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26440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16" name="TextBox 15"/>
          <p:cNvSpPr txBox="1"/>
          <p:nvPr/>
        </p:nvSpPr>
        <p:spPr>
          <a:xfrm>
            <a:off x="1691640" y="305409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操作の記録</a:t>
            </a:r>
          </a:p>
        </p:txBody>
      </p:sp>
      <p:sp>
        <p:nvSpPr>
          <p:cNvPr id="17" name="TextBox 16"/>
          <p:cNvSpPr txBox="1"/>
          <p:nvPr/>
        </p:nvSpPr>
        <p:spPr>
          <a:xfrm>
            <a:off x="1691640" y="3511296"/>
            <a:ext cx="4114800" cy="8229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誰が・いつ・何をしたかを残します。日報を書き直しても、前の内容が履歴に残ります</a:t>
            </a:r>
          </a:p>
        </p:txBody>
      </p:sp>
      <p:sp>
        <p:nvSpPr>
          <p:cNvPr id="18" name="Rounded Rectangle 17"/>
          <p:cNvSpPr/>
          <p:nvPr/>
        </p:nvSpPr>
        <p:spPr>
          <a:xfrm>
            <a:off x="6153912" y="2944368"/>
            <a:ext cx="5440680" cy="14173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382512" y="326440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20" name="TextBox 19"/>
          <p:cNvSpPr txBox="1"/>
          <p:nvPr/>
        </p:nvSpPr>
        <p:spPr>
          <a:xfrm>
            <a:off x="7296912" y="305409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見られる範囲を守る</a:t>
            </a:r>
          </a:p>
        </p:txBody>
      </p:sp>
      <p:sp>
        <p:nvSpPr>
          <p:cNvPr id="21" name="TextBox 20"/>
          <p:cNvSpPr txBox="1"/>
          <p:nvPr/>
        </p:nvSpPr>
        <p:spPr>
          <a:xfrm>
            <a:off x="7296912" y="3511296"/>
            <a:ext cx="4114800" cy="8229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a:t>
            </a:r>
          </a:p>
        </p:txBody>
      </p:sp>
      <p:sp>
        <p:nvSpPr>
          <p:cNvPr id="22" name="Rounded Rectangle 21"/>
          <p:cNvSpPr/>
          <p:nvPr/>
        </p:nvSpPr>
        <p:spPr>
          <a:xfrm>
            <a:off x="548640" y="4517136"/>
            <a:ext cx="11045952" cy="14173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77240" y="4837175"/>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1691640" y="4626864"/>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パスワードを守る</a:t>
            </a:r>
          </a:p>
        </p:txBody>
      </p:sp>
      <p:sp>
        <p:nvSpPr>
          <p:cNvPr id="25" name="TextBox 24"/>
          <p:cNvSpPr txBox="1"/>
          <p:nvPr/>
        </p:nvSpPr>
        <p:spPr>
          <a:xfrm>
            <a:off x="1691640" y="5084064"/>
            <a:ext cx="9720072" cy="8229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安全な方式で保存。続けて間違えると一時的にロック。再設定はメールの6桁の番号で(今と同じ)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21</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21</a:t>
            </a:r>
          </a:p>
        </p:txBody>
      </p:sp>
      <p:sp>
        <p:nvSpPr>
          <p:cNvPr id="6" name="TextBox 5"/>
          <p:cNvSpPr txBox="1"/>
          <p:nvPr/>
        </p:nvSpPr>
        <p:spPr>
          <a:xfrm>
            <a:off x="548640" y="1280160"/>
            <a:ext cx="1097280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今と同じ時刻に、同じ処理を自動で行います。失敗したら自動でやり直し、それでもだめならお知らせします。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188719"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9" name="Rounded Rectangle 8"/>
          <p:cNvSpPr/>
          <p:nvPr/>
        </p:nvSpPr>
        <p:spPr>
          <a:xfrm>
            <a:off x="45720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39"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出勤簿に反映</a:t>
            </a:r>
          </a:p>
        </p:txBody>
      </p:sp>
      <p:sp>
        <p:nvSpPr>
          <p:cNvPr id="11" name="TextBox 10"/>
          <p:cNvSpPr txBox="1"/>
          <p:nvPr/>
        </p:nvSpPr>
        <p:spPr>
          <a:xfrm>
            <a:off x="594359"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カレンダーの今日の予定を、全スタッフの出勤簿へ</a:t>
            </a:r>
          </a:p>
        </p:txBody>
      </p:sp>
      <p:sp>
        <p:nvSpPr>
          <p:cNvPr id="12" name="Oval 11"/>
          <p:cNvSpPr/>
          <p:nvPr/>
        </p:nvSpPr>
        <p:spPr>
          <a:xfrm>
            <a:off x="40233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3" name="Rounded Rectangle 12"/>
          <p:cNvSpPr/>
          <p:nvPr/>
        </p:nvSpPr>
        <p:spPr>
          <a:xfrm>
            <a:off x="329184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お客様を最新に</a:t>
            </a:r>
          </a:p>
        </p:txBody>
      </p:sp>
      <p:sp>
        <p:nvSpPr>
          <p:cNvPr id="15" name="TextBox 14"/>
          <p:cNvSpPr txBox="1"/>
          <p:nvPr/>
        </p:nvSpPr>
        <p:spPr>
          <a:xfrm>
            <a:off x="342900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Googleドライブの最新の顧客CSVを取り込み</a:t>
            </a:r>
          </a:p>
        </p:txBody>
      </p:sp>
      <p:sp>
        <p:nvSpPr>
          <p:cNvPr id="16" name="Oval 15"/>
          <p:cNvSpPr/>
          <p:nvPr/>
        </p:nvSpPr>
        <p:spPr>
          <a:xfrm>
            <a:off x="68580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17" name="Rounded Rectangle 16"/>
          <p:cNvSpPr/>
          <p:nvPr/>
        </p:nvSpPr>
        <p:spPr>
          <a:xfrm>
            <a:off x="6126479"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お片付け</a:t>
            </a:r>
          </a:p>
        </p:txBody>
      </p:sp>
      <p:sp>
        <p:nvSpPr>
          <p:cNvPr id="19" name="TextBox 18"/>
          <p:cNvSpPr txBox="1"/>
          <p:nvPr/>
        </p:nvSpPr>
        <p:spPr>
          <a:xfrm>
            <a:off x="626364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古くなった記録や使われない画像を整理</a:t>
            </a:r>
          </a:p>
        </p:txBody>
      </p:sp>
      <p:sp>
        <p:nvSpPr>
          <p:cNvPr id="20" name="Oval 19"/>
          <p:cNvSpPr/>
          <p:nvPr/>
        </p:nvSpPr>
        <p:spPr>
          <a:xfrm>
            <a:off x="96926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1" name="Rounded Rectangle 20"/>
          <p:cNvSpPr/>
          <p:nvPr/>
        </p:nvSpPr>
        <p:spPr>
          <a:xfrm>
            <a:off x="896112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結果の確認</a:t>
            </a:r>
          </a:p>
        </p:txBody>
      </p:sp>
      <p:sp>
        <p:nvSpPr>
          <p:cNvPr id="23" name="TextBox 22"/>
          <p:cNvSpPr txBox="1"/>
          <p:nvPr/>
        </p:nvSpPr>
        <p:spPr>
          <a:xfrm>
            <a:off x="909828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21</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どちらも「これから作るもの」です。今回の切り替えでは、今のアプリと同じ機能をお届けします。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21</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画面の見た目・言葉・操作の流れ</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ログインのメールアドレスとパスワード</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予定はGoogleカレンダーで管理</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毎晩の出勤簿への反映・顧客CSVの取り込み</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日報のAI下書き・領収書の読み取り・通知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アプリのURL(ホーム画面に追加し直します)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記録の正本はデータベースに(今はシート)</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シートへの書き写しは必要な間だけ(選べます)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毎月のクラウド利用料がかかります(15ページ)</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LINE WORKSの翌日道順の通知は無し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21</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21</a:t>
            </a:r>
          </a:p>
        </p:txBody>
      </p:sp>
      <p:sp>
        <p:nvSpPr>
          <p:cNvPr id="6" name="Rounded Rectangle 5"/>
          <p:cNvSpPr/>
          <p:nvPr/>
        </p:nvSpPr>
        <p:spPr>
          <a:xfrm>
            <a:off x="548640" y="1371600"/>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554480"/>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71600"/>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53619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53619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304288"/>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487168"/>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304288"/>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468880"/>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468880"/>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3236976"/>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419856"/>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3236976"/>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40156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40156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4169664"/>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4352544"/>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4169664"/>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ログイン・今日の予定・日報の保存を、事務局と数名のスタッフで確かめる</a:t>
            </a:r>
          </a:p>
        </p:txBody>
      </p:sp>
      <p:sp>
        <p:nvSpPr>
          <p:cNvPr id="24" name="Rounded Rectangle 23"/>
          <p:cNvSpPr/>
          <p:nvPr/>
        </p:nvSpPr>
        <p:spPr>
          <a:xfrm>
            <a:off x="9784080" y="4334256"/>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433425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26" name="Rounded Rectangle 25"/>
          <p:cNvSpPr/>
          <p:nvPr/>
        </p:nvSpPr>
        <p:spPr>
          <a:xfrm>
            <a:off x="548640" y="5102352"/>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5285232"/>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5102352"/>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翌朝、出勤簿とお客様データが夜のうちに更新されたことを確かめる</a:t>
            </a:r>
          </a:p>
        </p:txBody>
      </p:sp>
      <p:sp>
        <p:nvSpPr>
          <p:cNvPr id="29" name="Rounded Rectangle 28"/>
          <p:cNvSpPr/>
          <p:nvPr/>
        </p:nvSpPr>
        <p:spPr>
          <a:xfrm>
            <a:off x="9784080" y="5266944"/>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52669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31" name="TextBox 30"/>
          <p:cNvSpPr txBox="1"/>
          <p:nvPr/>
        </p:nvSpPr>
        <p:spPr>
          <a:xfrm>
            <a:off x="548640" y="6126480"/>
            <a:ext cx="11064240" cy="274320"/>
          </a:xfrm>
          <a:prstGeom prst="rect">
            <a:avLst/>
          </a:prstGeom>
          <a:noFill/>
        </p:spPr>
        <p:txBody>
          <a:bodyPr wrap="square" anchor="t" lIns="0" rIns="0" tIns="0" bIns="0"/>
          <a:lstStyle/>
          <a:p>
            <a:pPr algn="l">
              <a:lnSpc>
                <a:spcPct val="115000"/>
              </a:lnSpc>
              <a:spcAft>
                <a:spcPts val="600"/>
              </a:spcAft>
            </a:pPr>
            <a:r>
              <a:rPr sz="1200" b="0">
                <a:solidFill>
                  <a:srgbClr val="1F2D33"/>
                </a:solidFill>
                <a:latin typeface="IPAPGothic"/>
                <a:ea typeface="IPAPGothic"/>
                <a:cs typeface="IPAPGothic"/>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21</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続ければ、切替後の記録もスプレッドシートに残ります(今のアプリ側の準備が必要です)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切り替え前に、画面(124場面)と計算を今のアプリと突き合わせて確かめています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21</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続けるものを決める</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シートへの書き写しを続けるか/翌日道順のLINE WORKS通知は必要か</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新しいURLとホーム画面への追加方法をお知らせ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21</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1.1万〜1.6万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(約75〜105ドル)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地図・AIは使った分が別にかかります。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30〜40ドル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45〜55ドル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0〜10ドル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使った分</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すべて2026年9月時点の見込み(目安)です。料金は変わることがあるため、本番の環境を作る前に正式な料金表で確かめます。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21</a:t>
            </a:r>
          </a:p>
        </p:txBody>
      </p:sp>
      <p:sp>
        <p:nvSpPr>
          <p:cNvPr id="6" name="Rounded Rectangle 5"/>
          <p:cNvSpPr/>
          <p:nvPr/>
        </p:nvSpPr>
        <p:spPr>
          <a:xfrm>
            <a:off x="548640" y="13716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5727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8" name="TextBox 7"/>
          <p:cNvSpPr txBox="1"/>
          <p:nvPr/>
        </p:nvSpPr>
        <p:spPr>
          <a:xfrm>
            <a:off x="1554480" y="15361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20848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9718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1729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2" name="TextBox 11"/>
          <p:cNvSpPr txBox="1"/>
          <p:nvPr/>
        </p:nvSpPr>
        <p:spPr>
          <a:xfrm>
            <a:off x="1554480" y="31363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6850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45720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7731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6" name="TextBox 15"/>
          <p:cNvSpPr txBox="1"/>
          <p:nvPr/>
        </p:nvSpPr>
        <p:spPr>
          <a:xfrm>
            <a:off x="1554480" y="47365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52852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変わりません。予定はこれまでどおりカレンダーへ。新しいアプリがそれを読んで表示します。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21</a:t>
            </a:r>
          </a:p>
        </p:txBody>
      </p:sp>
      <p:sp>
        <p:nvSpPr>
          <p:cNvPr id="6" name="Rounded Rectangle 5"/>
          <p:cNvSpPr/>
          <p:nvPr/>
        </p:nvSpPr>
        <p:spPr>
          <a:xfrm>
            <a:off x="548640" y="13716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5727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8" name="TextBox 7"/>
          <p:cNvSpPr txBox="1"/>
          <p:nvPr/>
        </p:nvSpPr>
        <p:spPr>
          <a:xfrm>
            <a:off x="1554480" y="15361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今までのデータは消えませんか?</a:t>
            </a:r>
          </a:p>
        </p:txBody>
      </p:sp>
      <p:sp>
        <p:nvSpPr>
          <p:cNvPr id="9" name="TextBox 8"/>
          <p:cNvSpPr txBox="1"/>
          <p:nvPr/>
        </p:nvSpPr>
        <p:spPr>
          <a:xfrm>
            <a:off x="1554480" y="20848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0" name="Rounded Rectangle 9"/>
          <p:cNvSpPr/>
          <p:nvPr/>
        </p:nvSpPr>
        <p:spPr>
          <a:xfrm>
            <a:off x="548640" y="29718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1729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2" name="TextBox 11"/>
          <p:cNvSpPr txBox="1"/>
          <p:nvPr/>
        </p:nvSpPr>
        <p:spPr>
          <a:xfrm>
            <a:off x="1554480" y="31363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スプレッドシートは今後も見られますか?</a:t>
            </a:r>
          </a:p>
        </p:txBody>
      </p:sp>
      <p:sp>
        <p:nvSpPr>
          <p:cNvPr id="13" name="TextBox 12"/>
          <p:cNvSpPr txBox="1"/>
          <p:nvPr/>
        </p:nvSpPr>
        <p:spPr>
          <a:xfrm>
            <a:off x="1554480" y="36850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これまでの分はそのまま見られます。切替後の記録もシートに書き写すかは選べます(続ける場合は今のアプリ側の準備が必要です)。</a:t>
            </a:r>
          </a:p>
        </p:txBody>
      </p:sp>
      <p:sp>
        <p:nvSpPr>
          <p:cNvPr id="14" name="Rounded Rectangle 13"/>
          <p:cNvSpPr/>
          <p:nvPr/>
        </p:nvSpPr>
        <p:spPr>
          <a:xfrm>
            <a:off x="548640" y="45720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7731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6" name="TextBox 15"/>
          <p:cNvSpPr txBox="1"/>
          <p:nvPr/>
        </p:nvSpPr>
        <p:spPr>
          <a:xfrm>
            <a:off x="1554480" y="47365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障害が起きたらどうなりますか?</a:t>
            </a:r>
          </a:p>
        </p:txBody>
      </p:sp>
      <p:sp>
        <p:nvSpPr>
          <p:cNvPr id="17" name="TextBox 16"/>
          <p:cNvSpPr txBox="1"/>
          <p:nvPr/>
        </p:nvSpPr>
        <p:spPr>
          <a:xfrm>
            <a:off x="1554480" y="52852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21 / 21</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会社の登録と最初の管理者をつくる手順の用意/スタッフの自宅住所(道順の出発点)の登録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