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本日は、スタッフの皆さまが毎日お使いの「保育日報」アプリを、新しい仕組みに切り替えるご相談です。専門用語はできるだけ使わずにご説明します。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要点は3つです。①スタッフの使い方はほぼ変わらない。②記録の安全性と正確さが上がる。③切り替えは段階的に進め、戻し方も用意する。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今のアプリはGoogleスプレッドシートとApps Scriptで作られています。小さく始めるには最適でしたが、記録が増え、使う人が増えるにつれて、ここに挙げたような限界が見えてきました。6分の上限はGoogle Apps Scriptの仕様です。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スタッフはスマホで新しいアプリを開きます。アプリはGoogle Cloudの東京のデータセンターで動き、記録はデータベースにまとめて保管します。予定はこれまでどおりGoogleカレンダーから読み、お客様のCSVはGoogleドライブから10分ごとに取り込みます。スプレッドシートへの書き写しは、必要な間だけ続けることができます(続けるかどうかは選べ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グイン画面と、今日の予定・道順の画面です。新しいアプリは今の画面をもとに作っているので、使い方はほぼそのままです。スマホへの通知や管理者の方の画面など、新しく加わるものは、この後のページでご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お客様の情報の画面と、日報をAIに下書きしてもらった後の画面です。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は今のアプリをもとに作り、言葉やボタンの並びを引き継いでいます。今のアプリで使い慣れた流れのまま使えます。出勤簿や道順の計算は、今のアプリのプログラムそのものと結果を突き合わせて確かめています。今後の画面の改善は、新しいアプリの側で行っ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今は古い仕組み(ルート検索の夜間処理)が、毎晩LINE WORKSで明日の予定を送っています。新しいアプリでは、アプリそのものがスマホに通知を送ります。スタッフの皆さまには、はじめに一度だけ、設定で通知をオンにしていただきます。iPhoneはホーム画面に追加したアプリからでないと通知を受け取れません(iOS 16.4以降)。通知には時刻とお名前だけを出し、住所・電話番号・道順は押した先のアプリで見ます。ロック画面に個人情報を出さないためです。LINE WORKSのお知らせは、全員がオンにしたことを確かめてから止めます。今のLINE WORKSのお知らせの末尾にある「訪問時お願い」(生年月日の登録を促す一文)は、新しい通知には入りません。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管理者の方がスタッフ台帳やAIの指示のシートを直接直していた作業は、アプリの管理の画面に移ります。入力の確認や、2人が同時に直したときの保護、操作の記録がつくので、誤って壊してしまう心配が減ります。スタッフを消すことは、記録が1件も無い(間違えて登録した)場合だけできます。辞めた方は退職日を入れます。お客様の情報をアプリで直す機能は、今後の予定です。今までどおり顧客CSVの取り込みで更新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速さについては、スプレッドシートを毎回読み書きしなくなるぶん待ち時間は短くなる見込みですが、実際の体感は本番環境を作ったあと、切替前に確かめます。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お預かりするデータは、保管場所ごと、つまりデータベースとそのバックアップ、領収書の画像を丸ごと、このアプリ専用の鍵で暗号化します。Google Cloud の保存データの暗号化の仕組みで、鍵は Google Cloud の鍵管理サービスで厳重に管理します。医療機関向けの国のガイドライン(3省2ガイドライン)でも一般的な保護の水準ですので、ご安心ください。ガイドラインの認証を受けたという意味ではありません。加えて、会社ごとのデータの分離、役割ごとにできることの制限、お客様の情報を誰がいつ開いたかの記録、ログインの回数の制限で守ります。ログインの回数の制限は、続けて間違えたアカウントを一時的にロックするものですが、いつも使っている端末(その端末で前にログインしたことがある場合)では、他の人が当てずっぽうにパスワードを試しても、ご本人がその端末から入れなくなることはありません。パスワードの再設定は、メールで届く8桁の番号(30分有効)で行います。今のアプリの6桁から増やして、当てずっぽうで当たりにく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例えば、事務局の方とスタッフが同じ日の出勤簿を同時に直した場合、今は後から保存した方の内容が残りますが、新しいアプリでは後の方に「読み込み直してから」とお知らせします。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毎晩22時に今日の予定を出勤簿へ反映するのは今のアプリと同じ時刻です。顧客CSVの取り込みは、今の毎晩3時から10分ごとに変わります。初めて訪問するお客様をRESERVAに登録した直後でも、すぐに日報を書けるようにするためです。急ぐときは、コーディネーター・管理者がお客様の画面の「今すぐ取り込む」で取り込めます。19時の明日の予定のお知らせは、今LINE WORKSで届いているお知らせの代わりです。4時の整理は新しいアプリで加わった保守の処理です。お客様のデータの変化が大きすぎるときは、取り込まずに止めます。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割り振りのアプリはまだ作っていません。データを入れる箱(設計)を先に用意してあるので、今回の切り替えのあとに作り始められます。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WORKSで明日の予定を送っている古い仕組み(ルート検索の夜間処理)は、新しいアプリのスマホへの通知に置き換わります。スタッフ全員が通知をオンにしたことを確かめてから、古い仕組みを止めます。スタッフ台帳やAIの指示は、スプレッドシートではなくアプリの管理の画面で直します。スプレッドシートは見るだけの写し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準備では、スタッフ台帳・顧客CSV・各スタッフの今月分の出勤簿を新しいアプリに取り込みます。試用期間中に両方のアプリで同じ日を入力すると、どちらかの入力が残らないことがあるため、同じ日は片方だけで入力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のアプリと新しいアプリの夜の処理を同じ日に切り替えるのは、同じ予定が二重に出勤簿へ反映されたり、顧客CSVが二重に取り込まれたりしないためです。通知は端末ごとの設定なので、スタッフお一人おひとりにオンにしていただきます。全員がオンにするまでは、LINE WORKSのお知らせも届き続けます。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のアプリ(Googleスプレッドシート版)の画面は、誰も使わなくなるまで公開したままにします。スプレッドシートへの書き写しを続ける場合は、今のアプリ側に書き写しの受け口を設置する作業が切替前に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レンダーと顧客CSVのフォルダは、新しいアプリ専用のGoogleのアカウント(サービス用のアドレス)に「閲覧」で共有していただく必要があります。共有先のアドレスは本番の環境の設定が済んだ時点でお伝えします。パスワード再設定メールの送信元(Google Workspaceのメール送信の設定)もご相談します。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内訳は東京リージョンの概算で、スタッフ10人・1人1日1〜2件の報告を前提にしています。いちばん大きいのはデータベースで、今の規模に合わせた小さな構成(約12〜14ドル)です。利用が増えたら数分の再起動だけで大きくできます(データはそのまま)。スプレッドシートへの書き写し・パスワード再設定メール・スマホへの通知は、送るものができたときと10分ごとの見回りのときだけ短い時間動く処理で送るため、常に動かしておく費用がかからず、月0〜3ドルほど(無料枠の範囲に収まる見込み)です。操作からおよそ10〜30秒で届きます。地図は、スタッフ10人が1日3件訪問する程度なら毎月の無料枠内に収まる見込みです。AIは日報の下書きが大半で、月2〜8ドルほどの見込みです。今のアプリ(Apps Script)にはサーバーの固定費がありませんが、新しいアプリでは上のクラウド利用料が毎月かかります。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ご質問の答えは、新しいアプリの今の作り(2026年9月時点)に合わせています。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質問の答えは、新しいアプリの今の作り(2026年9月時点)に合わせています。個人情報は、保管場所ごとの暗号化に加えて、会社ごとの分離・役割ごとにできることの制限・お客様の情報を誰がいつ開いたかの記録・ログインの回数の制限で守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本番の環境(Google Cloud)は作成済みで、アプリ・データベース・お知らせや写しを送る処理の動作確認まで済んでいます(2026年9月末)。会社と最初の管理者の登録、夜の自動処理を動かす設定、各種の連携の設定はこれからで、切替日の前に済ませ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4F5C"/>
        </a:solidFill>
        <a:effectLst/>
      </p:bgPr>
    </p:bg>
    <p:spTree>
      <p:nvGrpSpPr>
        <p:cNvPr id="1" name=""/>
        <p:cNvGrpSpPr/>
        <p:nvPr/>
      </p:nvGrpSpPr>
      <p:grpSpPr/>
      <p:sp>
        <p:nvSpPr>
          <p:cNvPr id="2" name="Oval 1"/>
          <p:cNvSpPr/>
          <p:nvPr/>
        </p:nvSpPr>
        <p:spPr>
          <a:xfrm>
            <a:off x="822960" y="1097280"/>
            <a:ext cx="822960" cy="82296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IPAPGothic"/>
                <a:ea typeface="IPAPGothic"/>
                <a:cs typeface="IPAPGothic"/>
              </a:rPr>
              <a:t>新</a:t>
            </a:r>
          </a:p>
        </p:txBody>
      </p:sp>
      <p:sp>
        <p:nvSpPr>
          <p:cNvPr id="3" name="TextBox 2"/>
          <p:cNvSpPr txBox="1"/>
          <p:nvPr/>
        </p:nvSpPr>
        <p:spPr>
          <a:xfrm>
            <a:off x="822960" y="2194560"/>
            <a:ext cx="10515600" cy="1645920"/>
          </a:xfrm>
          <a:prstGeom prst="rect">
            <a:avLst/>
          </a:prstGeom>
          <a:noFill/>
        </p:spPr>
        <p:txBody>
          <a:bodyPr wrap="square" anchor="t" lIns="0" rIns="0" tIns="0" bIns="0"/>
          <a:lstStyle/>
          <a:p>
            <a:pPr algn="l">
              <a:lnSpc>
                <a:spcPct val="110000"/>
              </a:lnSpc>
              <a:spcAft>
                <a:spcPts val="200"/>
              </a:spcAft>
            </a:pPr>
            <a:r>
              <a:rPr sz="4400" b="1">
                <a:solidFill>
                  <a:srgbClr val="FFFFFF"/>
                </a:solidFill>
                <a:latin typeface="IPAPGothic"/>
                <a:ea typeface="IPAPGothic"/>
                <a:cs typeface="IPAPGothic"/>
              </a:rPr>
              <a:t>新しい訪問業務アプリへの</a:t>
            </a:r>
          </a:p>
          <a:p>
            <a:pPr algn="l">
              <a:lnSpc>
                <a:spcPct val="110000"/>
              </a:lnSpc>
              <a:spcAft>
                <a:spcPts val="200"/>
              </a:spcAft>
            </a:pPr>
            <a:r>
              <a:rPr sz="4400" b="1">
                <a:solidFill>
                  <a:srgbClr val="FFFFFF"/>
                </a:solidFill>
                <a:latin typeface="IPAPGothic"/>
                <a:ea typeface="IPAPGothic"/>
                <a:cs typeface="IPAPGothic"/>
              </a:rPr>
              <a:t>切り替えについて</a:t>
            </a:r>
          </a:p>
        </p:txBody>
      </p:sp>
      <p:sp>
        <p:nvSpPr>
          <p:cNvPr id="4" name="TextBox 3"/>
          <p:cNvSpPr txBox="1"/>
          <p:nvPr/>
        </p:nvSpPr>
        <p:spPr>
          <a:xfrm>
            <a:off x="822960" y="4069080"/>
            <a:ext cx="10058400" cy="548640"/>
          </a:xfrm>
          <a:prstGeom prst="rect">
            <a:avLst/>
          </a:prstGeom>
          <a:noFill/>
        </p:spPr>
        <p:txBody>
          <a:bodyPr wrap="square" anchor="t" lIns="0" rIns="0" tIns="0" bIns="0"/>
          <a:lstStyle/>
          <a:p>
            <a:pPr algn="l">
              <a:lnSpc>
                <a:spcPct val="115000"/>
              </a:lnSpc>
              <a:spcAft>
                <a:spcPts val="600"/>
              </a:spcAft>
            </a:pPr>
            <a:r>
              <a:rPr sz="2400" b="0">
                <a:solidFill>
                  <a:srgbClr val="CFEBE8"/>
                </a:solidFill>
                <a:latin typeface="IPAPGothic"/>
                <a:ea typeface="IPAPGothic"/>
                <a:cs typeface="IPAPGothic"/>
              </a:rPr>
              <a:t>株式会社キューテスト様向け ご説明資料</a:t>
            </a:r>
          </a:p>
        </p:txBody>
      </p:sp>
      <p:sp>
        <p:nvSpPr>
          <p:cNvPr id="5" name="TextBox 4"/>
          <p:cNvSpPr txBox="1"/>
          <p:nvPr/>
        </p:nvSpPr>
        <p:spPr>
          <a:xfrm>
            <a:off x="822960" y="4754880"/>
            <a:ext cx="10058400" cy="457200"/>
          </a:xfrm>
          <a:prstGeom prst="rect">
            <a:avLst/>
          </a:prstGeom>
          <a:noFill/>
        </p:spPr>
        <p:txBody>
          <a:bodyPr wrap="square" anchor="t" lIns="0" rIns="0" tIns="0" bIns="0"/>
          <a:lstStyle/>
          <a:p>
            <a:pPr algn="l">
              <a:lnSpc>
                <a:spcPct val="115000"/>
              </a:lnSpc>
              <a:spcAft>
                <a:spcPts val="600"/>
              </a:spcAft>
            </a:pPr>
            <a:r>
              <a:rPr sz="2000" b="0">
                <a:solidFill>
                  <a:srgbClr val="B5D8D6"/>
                </a:solidFill>
                <a:latin typeface="IPAPGothic"/>
                <a:ea typeface="IPAPGothic"/>
                <a:cs typeface="IPAPGothic"/>
              </a:rPr>
              <a:t>2026年9月</a:t>
            </a:r>
          </a:p>
        </p:txBody>
      </p:sp>
      <p:sp>
        <p:nvSpPr>
          <p:cNvPr id="6" name="TextBox 5"/>
          <p:cNvSpPr txBox="1"/>
          <p:nvPr/>
        </p:nvSpPr>
        <p:spPr>
          <a:xfrm>
            <a:off x="822960" y="5806440"/>
            <a:ext cx="10515600" cy="457200"/>
          </a:xfrm>
          <a:prstGeom prst="rect">
            <a:avLst/>
          </a:prstGeom>
          <a:noFill/>
        </p:spPr>
        <p:txBody>
          <a:bodyPr wrap="square" anchor="t" lIns="0" rIns="0" tIns="0" bIns="0"/>
          <a:lstStyle/>
          <a:p>
            <a:pPr algn="l">
              <a:lnSpc>
                <a:spcPct val="115000"/>
              </a:lnSpc>
              <a:spcAft>
                <a:spcPts val="600"/>
              </a:spcAft>
            </a:pPr>
            <a:r>
              <a:rPr sz="1600" b="0">
                <a:solidFill>
                  <a:srgbClr val="B5D8D6"/>
                </a:solidFill>
                <a:latin typeface="IPAPGothic"/>
                <a:ea typeface="IPAPGothic"/>
                <a:cs typeface="IPAPGothic"/>
              </a:rPr>
              <a:t>いまお使いの「保育日報」アプリ(Googleスプレッドシート版）からの切り替えのご案内です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はじめに</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このご説明の目的と要点</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2 / 23</a:t>
            </a:r>
          </a:p>
        </p:txBody>
      </p:sp>
      <p:sp>
        <p:nvSpPr>
          <p:cNvPr id="6" name="TextBox 5"/>
          <p:cNvSpPr txBox="1"/>
          <p:nvPr/>
        </p:nvSpPr>
        <p:spPr>
          <a:xfrm>
            <a:off x="548640" y="1325880"/>
            <a:ext cx="10972800" cy="457200"/>
          </a:xfrm>
          <a:prstGeom prst="rect">
            <a:avLst/>
          </a:prstGeom>
          <a:noFill/>
        </p:spPr>
        <p:txBody>
          <a:bodyPr wrap="square" anchor="t" lIns="0" rIns="0" tIns="0" bIns="0"/>
          <a:lstStyle/>
          <a:p>
            <a:pPr algn="l">
              <a:lnSpc>
                <a:spcPct val="115000"/>
              </a:lnSpc>
              <a:spcAft>
                <a:spcPts val="600"/>
              </a:spcAft>
            </a:pPr>
            <a:r>
              <a:rPr sz="2000" b="0">
                <a:solidFill>
                  <a:srgbClr val="5B6B70"/>
                </a:solidFill>
                <a:latin typeface="IPAPGothic"/>
                <a:ea typeface="IPAPGothic"/>
                <a:cs typeface="IPAPGothic"/>
              </a:rPr>
              <a:t>新しいアプリへの切り替えを、安心してご判断いただくための資料です。</a:t>
            </a:r>
          </a:p>
        </p:txBody>
      </p:sp>
      <p:sp>
        <p:nvSpPr>
          <p:cNvPr id="7" name="Rounded Rectangle 6"/>
          <p:cNvSpPr/>
          <p:nvPr/>
        </p:nvSpPr>
        <p:spPr>
          <a:xfrm>
            <a:off x="548640" y="2057400"/>
            <a:ext cx="3520440" cy="3977639"/>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33172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IPAPGothic"/>
                <a:ea typeface="IPAPGothic"/>
                <a:cs typeface="IPAPGothic"/>
              </a:rPr>
              <a:t>1</a:t>
            </a:r>
          </a:p>
        </p:txBody>
      </p:sp>
      <p:sp>
        <p:nvSpPr>
          <p:cNvPr id="9" name="TextBox 8"/>
          <p:cNvSpPr txBox="1"/>
          <p:nvPr/>
        </p:nvSpPr>
        <p:spPr>
          <a:xfrm>
            <a:off x="868680" y="3200400"/>
            <a:ext cx="2926080" cy="1097280"/>
          </a:xfrm>
          <a:prstGeom prst="rect">
            <a:avLst/>
          </a:prstGeom>
          <a:noFill/>
        </p:spPr>
        <p:txBody>
          <a:bodyPr wrap="square" anchor="t" lIns="0" rIns="0" tIns="0" bIns="0"/>
          <a:lstStyle/>
          <a:p>
            <a:pPr algn="l">
              <a:lnSpc>
                <a:spcPct val="110000"/>
              </a:lnSpc>
              <a:spcAft>
                <a:spcPts val="600"/>
              </a:spcAft>
            </a:pPr>
            <a:r>
              <a:rPr sz="2400" b="1">
                <a:solidFill>
                  <a:srgbClr val="0E4F5C"/>
                </a:solidFill>
                <a:latin typeface="IPAPGothic"/>
                <a:ea typeface="IPAPGothic"/>
                <a:cs typeface="IPAPGothic"/>
              </a:rPr>
              <a:t>スタッフの使い方は
ほぼそのまま</a:t>
            </a:r>
          </a:p>
        </p:txBody>
      </p:sp>
      <p:sp>
        <p:nvSpPr>
          <p:cNvPr id="10" name="TextBox 9"/>
          <p:cNvSpPr txBox="1"/>
          <p:nvPr/>
        </p:nvSpPr>
        <p:spPr>
          <a:xfrm>
            <a:off x="868680" y="4343400"/>
            <a:ext cx="2926080" cy="1645920"/>
          </a:xfrm>
          <a:prstGeom prst="rect">
            <a:avLst/>
          </a:prstGeom>
          <a:noFill/>
        </p:spPr>
        <p:txBody>
          <a:bodyPr wrap="square" anchor="t" lIns="0" rIns="0" tIns="0" bIns="0"/>
          <a:lstStyle/>
          <a:p>
            <a:pPr algn="l">
              <a:lnSpc>
                <a:spcPct val="125000"/>
              </a:lnSpc>
              <a:spcAft>
                <a:spcPts val="600"/>
              </a:spcAft>
            </a:pPr>
            <a:r>
              <a:rPr sz="1800" b="0">
                <a:solidFill>
                  <a:srgbClr val="1F2D33"/>
                </a:solidFill>
                <a:latin typeface="IPAPGothic"/>
                <a:ea typeface="IPAPGothic"/>
                <a:cs typeface="IPAPGothic"/>
              </a:rPr>
              <a:t>今の画面をもとに作っているので、使い方はほぼそのまま。ログインも今のパスワードで。</a:t>
            </a:r>
          </a:p>
        </p:txBody>
      </p:sp>
      <p:sp>
        <p:nvSpPr>
          <p:cNvPr id="11" name="Rounded Rectangle 10"/>
          <p:cNvSpPr/>
          <p:nvPr/>
        </p:nvSpPr>
        <p:spPr>
          <a:xfrm>
            <a:off x="4297679" y="2057400"/>
            <a:ext cx="3520440" cy="3977639"/>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17719" y="233172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IPAPGothic"/>
                <a:ea typeface="IPAPGothic"/>
                <a:cs typeface="IPAPGothic"/>
              </a:rPr>
              <a:t>2</a:t>
            </a:r>
          </a:p>
        </p:txBody>
      </p:sp>
      <p:sp>
        <p:nvSpPr>
          <p:cNvPr id="13" name="TextBox 12"/>
          <p:cNvSpPr txBox="1"/>
          <p:nvPr/>
        </p:nvSpPr>
        <p:spPr>
          <a:xfrm>
            <a:off x="4617719" y="3200400"/>
            <a:ext cx="2926080" cy="1097280"/>
          </a:xfrm>
          <a:prstGeom prst="rect">
            <a:avLst/>
          </a:prstGeom>
          <a:noFill/>
        </p:spPr>
        <p:txBody>
          <a:bodyPr wrap="square" anchor="t" lIns="0" rIns="0" tIns="0" bIns="0"/>
          <a:lstStyle/>
          <a:p>
            <a:pPr algn="l">
              <a:lnSpc>
                <a:spcPct val="110000"/>
              </a:lnSpc>
              <a:spcAft>
                <a:spcPts val="600"/>
              </a:spcAft>
            </a:pPr>
            <a:r>
              <a:rPr sz="2400" b="1">
                <a:solidFill>
                  <a:srgbClr val="0E4F5C"/>
                </a:solidFill>
                <a:latin typeface="IPAPGothic"/>
                <a:ea typeface="IPAPGothic"/>
                <a:cs typeface="IPAPGothic"/>
              </a:rPr>
              <a:t>記録がより安全・
正確になります</a:t>
            </a:r>
          </a:p>
        </p:txBody>
      </p:sp>
      <p:sp>
        <p:nvSpPr>
          <p:cNvPr id="14" name="TextBox 13"/>
          <p:cNvSpPr txBox="1"/>
          <p:nvPr/>
        </p:nvSpPr>
        <p:spPr>
          <a:xfrm>
            <a:off x="4617719" y="4343400"/>
            <a:ext cx="2926080" cy="1645920"/>
          </a:xfrm>
          <a:prstGeom prst="rect">
            <a:avLst/>
          </a:prstGeom>
          <a:noFill/>
        </p:spPr>
        <p:txBody>
          <a:bodyPr wrap="square" anchor="t" lIns="0" rIns="0" tIns="0" bIns="0"/>
          <a:lstStyle/>
          <a:p>
            <a:pPr algn="l">
              <a:lnSpc>
                <a:spcPct val="125000"/>
              </a:lnSpc>
              <a:spcAft>
                <a:spcPts val="600"/>
              </a:spcAft>
            </a:pPr>
            <a:r>
              <a:rPr sz="1800" b="0">
                <a:solidFill>
                  <a:srgbClr val="1F2D33"/>
                </a:solidFill>
                <a:latin typeface="IPAPGothic"/>
                <a:ea typeface="IPAPGothic"/>
                <a:cs typeface="IPAPGothic"/>
              </a:rPr>
              <a:t>データを保管場所ごと暗号化、会社ごとのデータの分離、操作の記録、同時に直したときの保護。</a:t>
            </a:r>
          </a:p>
        </p:txBody>
      </p:sp>
      <p:sp>
        <p:nvSpPr>
          <p:cNvPr id="15" name="Rounded Rectangle 14"/>
          <p:cNvSpPr/>
          <p:nvPr/>
        </p:nvSpPr>
        <p:spPr>
          <a:xfrm>
            <a:off x="8046719" y="2057400"/>
            <a:ext cx="3520440" cy="3977639"/>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366759" y="233172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IPAPGothic"/>
                <a:ea typeface="IPAPGothic"/>
                <a:cs typeface="IPAPGothic"/>
              </a:rPr>
              <a:t>3</a:t>
            </a:r>
          </a:p>
        </p:txBody>
      </p:sp>
      <p:sp>
        <p:nvSpPr>
          <p:cNvPr id="17" name="TextBox 16"/>
          <p:cNvSpPr txBox="1"/>
          <p:nvPr/>
        </p:nvSpPr>
        <p:spPr>
          <a:xfrm>
            <a:off x="8366759" y="3200400"/>
            <a:ext cx="2926080" cy="1097280"/>
          </a:xfrm>
          <a:prstGeom prst="rect">
            <a:avLst/>
          </a:prstGeom>
          <a:noFill/>
        </p:spPr>
        <p:txBody>
          <a:bodyPr wrap="square" anchor="t" lIns="0" rIns="0" tIns="0" bIns="0"/>
          <a:lstStyle/>
          <a:p>
            <a:pPr algn="l">
              <a:lnSpc>
                <a:spcPct val="110000"/>
              </a:lnSpc>
              <a:spcAft>
                <a:spcPts val="600"/>
              </a:spcAft>
            </a:pPr>
            <a:r>
              <a:rPr sz="2400" b="1">
                <a:solidFill>
                  <a:srgbClr val="0E4F5C"/>
                </a:solidFill>
                <a:latin typeface="IPAPGothic"/>
                <a:ea typeface="IPAPGothic"/>
                <a:cs typeface="IPAPGothic"/>
              </a:rPr>
              <a:t>切り替えは段階的に、
戻せる形で</a:t>
            </a:r>
          </a:p>
        </p:txBody>
      </p:sp>
      <p:sp>
        <p:nvSpPr>
          <p:cNvPr id="18" name="TextBox 17"/>
          <p:cNvSpPr txBox="1"/>
          <p:nvPr/>
        </p:nvSpPr>
        <p:spPr>
          <a:xfrm>
            <a:off x="8366759" y="4343400"/>
            <a:ext cx="2926080" cy="1645920"/>
          </a:xfrm>
          <a:prstGeom prst="rect">
            <a:avLst/>
          </a:prstGeom>
          <a:noFill/>
        </p:spPr>
        <p:txBody>
          <a:bodyPr wrap="square" anchor="t" lIns="0" rIns="0" tIns="0" bIns="0"/>
          <a:lstStyle/>
          <a:p>
            <a:pPr algn="l">
              <a:lnSpc>
                <a:spcPct val="125000"/>
              </a:lnSpc>
              <a:spcAft>
                <a:spcPts val="600"/>
              </a:spcAft>
            </a:pPr>
            <a:r>
              <a:rPr sz="1800" b="0">
                <a:solidFill>
                  <a:srgbClr val="1F2D33"/>
                </a:solidFill>
                <a:latin typeface="IPAPGothic"/>
                <a:ea typeface="IPAPGothic"/>
                <a:cs typeface="IPAPGothic"/>
              </a:rPr>
              <a:t>準備 → 試しに使う → 切替日 → 確認 の順に進め、万一のときの戻し方も用意します。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いまの状況</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いまの仕組み（スプレッドシート+Apps Script)の課題</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3 / 23</a:t>
            </a:r>
          </a:p>
        </p:txBody>
      </p:sp>
      <p:sp>
        <p:nvSpPr>
          <p:cNvPr id="6" name="Rounded Rectangle 5"/>
          <p:cNvSpPr/>
          <p:nvPr/>
        </p:nvSpPr>
        <p:spPr>
          <a:xfrm>
            <a:off x="548640" y="1417320"/>
            <a:ext cx="3520440" cy="201168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169164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遅</a:t>
            </a:r>
          </a:p>
        </p:txBody>
      </p:sp>
      <p:sp>
        <p:nvSpPr>
          <p:cNvPr id="8" name="TextBox 7"/>
          <p:cNvSpPr txBox="1"/>
          <p:nvPr/>
        </p:nvSpPr>
        <p:spPr>
          <a:xfrm>
            <a:off x="1554480" y="1691640"/>
            <a:ext cx="2377440" cy="566928"/>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待ち時間が出やすい</a:t>
            </a:r>
          </a:p>
        </p:txBody>
      </p:sp>
      <p:sp>
        <p:nvSpPr>
          <p:cNvPr id="9" name="TextBox 8"/>
          <p:cNvSpPr txBox="1"/>
          <p:nvPr/>
        </p:nvSpPr>
        <p:spPr>
          <a:xfrm>
            <a:off x="822959" y="2404872"/>
            <a:ext cx="3017520" cy="960120"/>
          </a:xfrm>
          <a:prstGeom prst="rect">
            <a:avLst/>
          </a:prstGeom>
          <a:noFill/>
        </p:spPr>
        <p:txBody>
          <a:bodyPr wrap="square" anchor="t" lIns="0" rIns="0" tIns="0" bIns="0"/>
          <a:lstStyle/>
          <a:p>
            <a:pPr algn="l">
              <a:lnSpc>
                <a:spcPct val="120000"/>
              </a:lnSpc>
              <a:spcAft>
                <a:spcPts val="600"/>
              </a:spcAft>
            </a:pPr>
            <a:r>
              <a:rPr sz="1700" b="0">
                <a:solidFill>
                  <a:srgbClr val="1F2D33"/>
                </a:solidFill>
                <a:latin typeface="IPAPGothic"/>
                <a:ea typeface="IPAPGothic"/>
                <a:cs typeface="IPAPGothic"/>
              </a:rPr>
              <a:t>開くたび・保存のたびに、スプレッドシートを読み書きしています</a:t>
            </a:r>
          </a:p>
        </p:txBody>
      </p:sp>
      <p:sp>
        <p:nvSpPr>
          <p:cNvPr id="10" name="Rounded Rectangle 9"/>
          <p:cNvSpPr/>
          <p:nvPr/>
        </p:nvSpPr>
        <p:spPr>
          <a:xfrm>
            <a:off x="4297679" y="1417320"/>
            <a:ext cx="3520440" cy="201168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71999" y="169164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重</a:t>
            </a:r>
          </a:p>
        </p:txBody>
      </p:sp>
      <p:sp>
        <p:nvSpPr>
          <p:cNvPr id="12" name="TextBox 11"/>
          <p:cNvSpPr txBox="1"/>
          <p:nvPr/>
        </p:nvSpPr>
        <p:spPr>
          <a:xfrm>
            <a:off x="5303519" y="1691640"/>
            <a:ext cx="2377440" cy="566928"/>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同時の保存に弱い</a:t>
            </a:r>
          </a:p>
        </p:txBody>
      </p:sp>
      <p:sp>
        <p:nvSpPr>
          <p:cNvPr id="13" name="TextBox 12"/>
          <p:cNvSpPr txBox="1"/>
          <p:nvPr/>
        </p:nvSpPr>
        <p:spPr>
          <a:xfrm>
            <a:off x="4571999" y="2404872"/>
            <a:ext cx="3017520" cy="960120"/>
          </a:xfrm>
          <a:prstGeom prst="rect">
            <a:avLst/>
          </a:prstGeom>
          <a:noFill/>
        </p:spPr>
        <p:txBody>
          <a:bodyPr wrap="square" anchor="t" lIns="0" rIns="0" tIns="0" bIns="0"/>
          <a:lstStyle/>
          <a:p>
            <a:pPr algn="l">
              <a:lnSpc>
                <a:spcPct val="120000"/>
              </a:lnSpc>
              <a:spcAft>
                <a:spcPts val="600"/>
              </a:spcAft>
            </a:pPr>
            <a:r>
              <a:rPr sz="1700" b="0">
                <a:solidFill>
                  <a:srgbClr val="1F2D33"/>
                </a:solidFill>
                <a:latin typeface="IPAPGothic"/>
                <a:ea typeface="IPAPGothic"/>
                <a:cs typeface="IPAPGothic"/>
              </a:rPr>
              <a:t>同時に保存すると順番待ちになり、後の保存で上書きされることも</a:t>
            </a:r>
          </a:p>
        </p:txBody>
      </p:sp>
      <p:sp>
        <p:nvSpPr>
          <p:cNvPr id="14" name="Rounded Rectangle 13"/>
          <p:cNvSpPr/>
          <p:nvPr/>
        </p:nvSpPr>
        <p:spPr>
          <a:xfrm>
            <a:off x="8046719" y="1417320"/>
            <a:ext cx="3520440" cy="201168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21040" y="169164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6</a:t>
            </a:r>
          </a:p>
        </p:txBody>
      </p:sp>
      <p:sp>
        <p:nvSpPr>
          <p:cNvPr id="16" name="TextBox 15"/>
          <p:cNvSpPr txBox="1"/>
          <p:nvPr/>
        </p:nvSpPr>
        <p:spPr>
          <a:xfrm>
            <a:off x="9052559" y="1691640"/>
            <a:ext cx="2377440" cy="566928"/>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処理は6分まで</a:t>
            </a:r>
          </a:p>
        </p:txBody>
      </p:sp>
      <p:sp>
        <p:nvSpPr>
          <p:cNvPr id="17" name="TextBox 16"/>
          <p:cNvSpPr txBox="1"/>
          <p:nvPr/>
        </p:nvSpPr>
        <p:spPr>
          <a:xfrm>
            <a:off x="8321040" y="2404872"/>
            <a:ext cx="3017520" cy="960120"/>
          </a:xfrm>
          <a:prstGeom prst="rect">
            <a:avLst/>
          </a:prstGeom>
          <a:noFill/>
        </p:spPr>
        <p:txBody>
          <a:bodyPr wrap="square" anchor="t" lIns="0" rIns="0" tIns="0" bIns="0"/>
          <a:lstStyle/>
          <a:p>
            <a:pPr algn="l">
              <a:lnSpc>
                <a:spcPct val="120000"/>
              </a:lnSpc>
              <a:spcAft>
                <a:spcPts val="600"/>
              </a:spcAft>
            </a:pPr>
            <a:r>
              <a:rPr sz="1700" b="0">
                <a:solidFill>
                  <a:srgbClr val="1F2D33"/>
                </a:solidFill>
                <a:latin typeface="IPAPGothic"/>
                <a:ea typeface="IPAPGothic"/>
                <a:cs typeface="IPAPGothic"/>
              </a:rPr>
              <a:t>Googleの決まりで、夜のまとめ処理も6分以内に収める必要があります</a:t>
            </a:r>
          </a:p>
        </p:txBody>
      </p:sp>
      <p:sp>
        <p:nvSpPr>
          <p:cNvPr id="18" name="Rounded Rectangle 17"/>
          <p:cNvSpPr/>
          <p:nvPr/>
        </p:nvSpPr>
        <p:spPr>
          <a:xfrm>
            <a:off x="548640" y="3657600"/>
            <a:ext cx="3520440" cy="201168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2959" y="393192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散</a:t>
            </a:r>
          </a:p>
        </p:txBody>
      </p:sp>
      <p:sp>
        <p:nvSpPr>
          <p:cNvPr id="20" name="TextBox 19"/>
          <p:cNvSpPr txBox="1"/>
          <p:nvPr/>
        </p:nvSpPr>
        <p:spPr>
          <a:xfrm>
            <a:off x="1554480" y="3931920"/>
            <a:ext cx="2377440" cy="566928"/>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データが散らばる</a:t>
            </a:r>
          </a:p>
        </p:txBody>
      </p:sp>
      <p:sp>
        <p:nvSpPr>
          <p:cNvPr id="21" name="TextBox 20"/>
          <p:cNvSpPr txBox="1"/>
          <p:nvPr/>
        </p:nvSpPr>
        <p:spPr>
          <a:xfrm>
            <a:off x="822959" y="4645152"/>
            <a:ext cx="3017520" cy="960120"/>
          </a:xfrm>
          <a:prstGeom prst="rect">
            <a:avLst/>
          </a:prstGeom>
          <a:noFill/>
        </p:spPr>
        <p:txBody>
          <a:bodyPr wrap="square" anchor="t" lIns="0" rIns="0" tIns="0" bIns="0"/>
          <a:lstStyle/>
          <a:p>
            <a:pPr algn="l">
              <a:lnSpc>
                <a:spcPct val="120000"/>
              </a:lnSpc>
              <a:spcAft>
                <a:spcPts val="600"/>
              </a:spcAft>
            </a:pPr>
            <a:r>
              <a:rPr sz="1700" b="0">
                <a:solidFill>
                  <a:srgbClr val="1F2D33"/>
                </a:solidFill>
                <a:latin typeface="IPAPGothic"/>
                <a:ea typeface="IPAPGothic"/>
                <a:cs typeface="IPAPGothic"/>
              </a:rPr>
              <a:t>お客様・スタッフ・出勤簿・日報が、たくさんのシートとフォルダに分かれています</a:t>
            </a:r>
          </a:p>
        </p:txBody>
      </p:sp>
      <p:sp>
        <p:nvSpPr>
          <p:cNvPr id="22" name="Rounded Rectangle 21"/>
          <p:cNvSpPr/>
          <p:nvPr/>
        </p:nvSpPr>
        <p:spPr>
          <a:xfrm>
            <a:off x="4297679" y="3657600"/>
            <a:ext cx="3520440" cy="201168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71999" y="393192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鍵</a:t>
            </a:r>
          </a:p>
        </p:txBody>
      </p:sp>
      <p:sp>
        <p:nvSpPr>
          <p:cNvPr id="24" name="TextBox 23"/>
          <p:cNvSpPr txBox="1"/>
          <p:nvPr/>
        </p:nvSpPr>
        <p:spPr>
          <a:xfrm>
            <a:off x="5303519" y="3931920"/>
            <a:ext cx="2377440" cy="566928"/>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権限を分けにくい</a:t>
            </a:r>
          </a:p>
        </p:txBody>
      </p:sp>
      <p:sp>
        <p:nvSpPr>
          <p:cNvPr id="25" name="TextBox 24"/>
          <p:cNvSpPr txBox="1"/>
          <p:nvPr/>
        </p:nvSpPr>
        <p:spPr>
          <a:xfrm>
            <a:off x="4571999" y="4645152"/>
            <a:ext cx="3017520" cy="960120"/>
          </a:xfrm>
          <a:prstGeom prst="rect">
            <a:avLst/>
          </a:prstGeom>
          <a:noFill/>
        </p:spPr>
        <p:txBody>
          <a:bodyPr wrap="square" anchor="t" lIns="0" rIns="0" tIns="0" bIns="0"/>
          <a:lstStyle/>
          <a:p>
            <a:pPr algn="l">
              <a:lnSpc>
                <a:spcPct val="120000"/>
              </a:lnSpc>
              <a:spcAft>
                <a:spcPts val="600"/>
              </a:spcAft>
            </a:pPr>
            <a:r>
              <a:rPr sz="1700" b="0">
                <a:solidFill>
                  <a:srgbClr val="1F2D33"/>
                </a:solidFill>
                <a:latin typeface="IPAPGothic"/>
                <a:ea typeface="IPAPGothic"/>
                <a:cs typeface="IPAPGothic"/>
              </a:rPr>
              <a:t>シートの共有設定が頼りで、人ごとに細かく分けにくい</a:t>
            </a:r>
          </a:p>
        </p:txBody>
      </p:sp>
      <p:sp>
        <p:nvSpPr>
          <p:cNvPr id="26" name="Rounded Rectangle 25"/>
          <p:cNvSpPr/>
          <p:nvPr/>
        </p:nvSpPr>
        <p:spPr>
          <a:xfrm>
            <a:off x="8046719" y="3657600"/>
            <a:ext cx="3520440" cy="201168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21040" y="3931920"/>
            <a:ext cx="566928" cy="566928"/>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a:t>
            </a:r>
          </a:p>
        </p:txBody>
      </p:sp>
      <p:sp>
        <p:nvSpPr>
          <p:cNvPr id="28" name="TextBox 27"/>
          <p:cNvSpPr txBox="1"/>
          <p:nvPr/>
        </p:nvSpPr>
        <p:spPr>
          <a:xfrm>
            <a:off x="9052559" y="3931920"/>
            <a:ext cx="2377440" cy="566928"/>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機能を足しにくい</a:t>
            </a:r>
          </a:p>
        </p:txBody>
      </p:sp>
      <p:sp>
        <p:nvSpPr>
          <p:cNvPr id="29" name="TextBox 28"/>
          <p:cNvSpPr txBox="1"/>
          <p:nvPr/>
        </p:nvSpPr>
        <p:spPr>
          <a:xfrm>
            <a:off x="8321040" y="4645152"/>
            <a:ext cx="3017520" cy="960120"/>
          </a:xfrm>
          <a:prstGeom prst="rect">
            <a:avLst/>
          </a:prstGeom>
          <a:noFill/>
        </p:spPr>
        <p:txBody>
          <a:bodyPr wrap="square" anchor="t" lIns="0" rIns="0" tIns="0" bIns="0"/>
          <a:lstStyle/>
          <a:p>
            <a:pPr algn="l">
              <a:lnSpc>
                <a:spcPct val="120000"/>
              </a:lnSpc>
              <a:spcAft>
                <a:spcPts val="600"/>
              </a:spcAft>
            </a:pPr>
            <a:r>
              <a:rPr sz="1700" b="0">
                <a:solidFill>
                  <a:srgbClr val="1F2D33"/>
                </a:solidFill>
                <a:latin typeface="IPAPGothic"/>
                <a:ea typeface="IPAPGothic"/>
                <a:cs typeface="IPAPGothic"/>
              </a:rPr>
              <a:t>1社専用のつくりで、割り振りや他社への展開は作り直しが必要</a:t>
            </a:r>
          </a:p>
        </p:txBody>
      </p:sp>
      <p:sp>
        <p:nvSpPr>
          <p:cNvPr id="30" name="TextBox 29"/>
          <p:cNvSpPr txBox="1"/>
          <p:nvPr/>
        </p:nvSpPr>
        <p:spPr>
          <a:xfrm>
            <a:off x="548640" y="5943600"/>
            <a:ext cx="11064240" cy="365760"/>
          </a:xfrm>
          <a:prstGeom prst="rect">
            <a:avLst/>
          </a:prstGeom>
          <a:noFill/>
        </p:spPr>
        <p:txBody>
          <a:bodyPr wrap="square" anchor="t" lIns="0" rIns="0" tIns="0" bIns="0"/>
          <a:lstStyle/>
          <a:p>
            <a:pPr algn="l">
              <a:lnSpc>
                <a:spcPct val="115000"/>
              </a:lnSpc>
              <a:spcAft>
                <a:spcPts val="600"/>
              </a:spcAft>
            </a:pPr>
            <a:r>
              <a:rPr sz="1500" b="0">
                <a:solidFill>
                  <a:srgbClr val="5B6B70"/>
                </a:solidFill>
                <a:latin typeface="IPAPGothic"/>
                <a:ea typeface="IPAPGothic"/>
                <a:cs typeface="IPAPGothic"/>
              </a:rPr>
              <a:t>※ 今のアプリは毎日きちんと動いています。上は「これから先」を考えたときの課題です。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ひとことで</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新しいアプリとは</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4 / 23</a:t>
            </a:r>
          </a:p>
        </p:txBody>
      </p:sp>
      <p:sp>
        <p:nvSpPr>
          <p:cNvPr id="6" name="Rounded Rectangle 5"/>
          <p:cNvSpPr/>
          <p:nvPr/>
        </p:nvSpPr>
        <p:spPr>
          <a:xfrm>
            <a:off x="548640" y="1325880"/>
            <a:ext cx="11091672" cy="868680"/>
          </a:xfrm>
          <a:prstGeom prst="roundRect">
            <a:avLst>
              <a:gd name="adj" fmla="val 8000"/>
            </a:avLst>
          </a:prstGeom>
          <a:solidFill>
            <a:srgbClr val="D3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325880"/>
            <a:ext cx="10607040" cy="86868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今の画面をもとに、中身を「会社の業務システム」として作り直したものです</a:t>
            </a:r>
          </a:p>
        </p:txBody>
      </p:sp>
      <p:sp>
        <p:nvSpPr>
          <p:cNvPr id="8" name="Rounded Rectangle 7"/>
          <p:cNvSpPr/>
          <p:nvPr/>
        </p:nvSpPr>
        <p:spPr>
          <a:xfrm>
            <a:off x="548640" y="2606040"/>
            <a:ext cx="3291840" cy="14630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697480"/>
            <a:ext cx="3291840" cy="640080"/>
          </a:xfrm>
          <a:prstGeom prst="rect">
            <a:avLst/>
          </a:prstGeom>
          <a:noFill/>
        </p:spPr>
        <p:txBody>
          <a:bodyPr wrap="square" anchor="ctr" lIns="0" rIns="0" tIns="0" bIns="0"/>
          <a:lstStyle/>
          <a:p>
            <a:pPr algn="ctr">
              <a:lnSpc>
                <a:spcPct val="115000"/>
              </a:lnSpc>
              <a:spcAft>
                <a:spcPts val="600"/>
              </a:spcAft>
            </a:pPr>
            <a:r>
              <a:rPr sz="2400" b="1">
                <a:solidFill>
                  <a:srgbClr val="0E4F5C"/>
                </a:solidFill>
                <a:latin typeface="IPAPGothic"/>
                <a:ea typeface="IPAPGothic"/>
                <a:cs typeface="IPAPGothic"/>
              </a:rPr>
              <a:t>スマホ・パソコン</a:t>
            </a:r>
          </a:p>
        </p:txBody>
      </p:sp>
      <p:sp>
        <p:nvSpPr>
          <p:cNvPr id="10" name="TextBox 9"/>
          <p:cNvSpPr txBox="1"/>
          <p:nvPr/>
        </p:nvSpPr>
        <p:spPr>
          <a:xfrm>
            <a:off x="548640" y="3337560"/>
            <a:ext cx="3291840" cy="548640"/>
          </a:xfrm>
          <a:prstGeom prst="rect">
            <a:avLst/>
          </a:prstGeom>
          <a:noFill/>
        </p:spPr>
        <p:txBody>
          <a:bodyPr wrap="square" anchor="ctr" lIns="0" rIns="0" tIns="0" bIns="0"/>
          <a:lstStyle/>
          <a:p>
            <a:pPr algn="ctr">
              <a:lnSpc>
                <a:spcPct val="115000"/>
              </a:lnSpc>
              <a:spcAft>
                <a:spcPts val="600"/>
              </a:spcAft>
            </a:pPr>
            <a:r>
              <a:rPr sz="1600" b="0">
                <a:solidFill>
                  <a:srgbClr val="5B6B70"/>
                </a:solidFill>
                <a:latin typeface="IPAPGothic"/>
                <a:ea typeface="IPAPGothic"/>
                <a:cs typeface="IPAPGothic"/>
              </a:rPr>
              <a:t>スタッフ・事務局の皆さま</a:t>
            </a:r>
          </a:p>
        </p:txBody>
      </p:sp>
      <p:sp>
        <p:nvSpPr>
          <p:cNvPr id="11" name="Rounded Rectangle 10"/>
          <p:cNvSpPr/>
          <p:nvPr/>
        </p:nvSpPr>
        <p:spPr>
          <a:xfrm>
            <a:off x="4453128" y="2606040"/>
            <a:ext cx="3291840" cy="1463040"/>
          </a:xfrm>
          <a:prstGeom prst="roundRect">
            <a:avLst>
              <a:gd name="adj" fmla="val 8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53128" y="2697480"/>
            <a:ext cx="3291840" cy="640080"/>
          </a:xfrm>
          <a:prstGeom prst="rect">
            <a:avLst/>
          </a:prstGeom>
          <a:noFill/>
        </p:spPr>
        <p:txBody>
          <a:bodyPr wrap="square" anchor="ctr" lIns="0" rIns="0" tIns="0" bIns="0"/>
          <a:lstStyle/>
          <a:p>
            <a:pPr algn="ctr">
              <a:lnSpc>
                <a:spcPct val="115000"/>
              </a:lnSpc>
              <a:spcAft>
                <a:spcPts val="600"/>
              </a:spcAft>
            </a:pPr>
            <a:r>
              <a:rPr sz="2400" b="1">
                <a:solidFill>
                  <a:srgbClr val="FFFFFF"/>
                </a:solidFill>
                <a:latin typeface="IPAPGothic"/>
                <a:ea typeface="IPAPGothic"/>
                <a:cs typeface="IPAPGothic"/>
              </a:rPr>
              <a:t>新しいアプリ</a:t>
            </a:r>
          </a:p>
        </p:txBody>
      </p:sp>
      <p:sp>
        <p:nvSpPr>
          <p:cNvPr id="13" name="TextBox 12"/>
          <p:cNvSpPr txBox="1"/>
          <p:nvPr/>
        </p:nvSpPr>
        <p:spPr>
          <a:xfrm>
            <a:off x="4453128" y="3337560"/>
            <a:ext cx="3291840" cy="548640"/>
          </a:xfrm>
          <a:prstGeom prst="rect">
            <a:avLst/>
          </a:prstGeom>
          <a:noFill/>
        </p:spPr>
        <p:txBody>
          <a:bodyPr wrap="square" anchor="ctr" lIns="0" rIns="0" tIns="0" bIns="0"/>
          <a:lstStyle/>
          <a:p>
            <a:pPr algn="ctr">
              <a:lnSpc>
                <a:spcPct val="115000"/>
              </a:lnSpc>
              <a:spcAft>
                <a:spcPts val="600"/>
              </a:spcAft>
            </a:pPr>
            <a:r>
              <a:rPr sz="1600" b="0">
                <a:solidFill>
                  <a:srgbClr val="FFFFFF"/>
                </a:solidFill>
                <a:latin typeface="IPAPGothic"/>
                <a:ea typeface="IPAPGothic"/>
                <a:cs typeface="IPAPGothic"/>
              </a:rPr>
              <a:t>Google Cloud（東京）で動きます</a:t>
            </a:r>
          </a:p>
        </p:txBody>
      </p:sp>
      <p:sp>
        <p:nvSpPr>
          <p:cNvPr id="14" name="Rounded Rectangle 13"/>
          <p:cNvSpPr/>
          <p:nvPr/>
        </p:nvSpPr>
        <p:spPr>
          <a:xfrm>
            <a:off x="8357616" y="2606040"/>
            <a:ext cx="3291840" cy="14630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57616" y="2697480"/>
            <a:ext cx="3291840" cy="640080"/>
          </a:xfrm>
          <a:prstGeom prst="rect">
            <a:avLst/>
          </a:prstGeom>
          <a:noFill/>
        </p:spPr>
        <p:txBody>
          <a:bodyPr wrap="square" anchor="ctr" lIns="0" rIns="0" tIns="0" bIns="0"/>
          <a:lstStyle/>
          <a:p>
            <a:pPr algn="ctr">
              <a:lnSpc>
                <a:spcPct val="115000"/>
              </a:lnSpc>
              <a:spcAft>
                <a:spcPts val="600"/>
              </a:spcAft>
            </a:pPr>
            <a:r>
              <a:rPr sz="2400" b="1">
                <a:solidFill>
                  <a:srgbClr val="0E4F5C"/>
                </a:solidFill>
                <a:latin typeface="IPAPGothic"/>
                <a:ea typeface="IPAPGothic"/>
                <a:cs typeface="IPAPGothic"/>
              </a:rPr>
              <a:t>データベース</a:t>
            </a:r>
          </a:p>
        </p:txBody>
      </p:sp>
      <p:sp>
        <p:nvSpPr>
          <p:cNvPr id="16" name="TextBox 15"/>
          <p:cNvSpPr txBox="1"/>
          <p:nvPr/>
        </p:nvSpPr>
        <p:spPr>
          <a:xfrm>
            <a:off x="8357616" y="3337560"/>
            <a:ext cx="3291840" cy="548640"/>
          </a:xfrm>
          <a:prstGeom prst="rect">
            <a:avLst/>
          </a:prstGeom>
          <a:noFill/>
        </p:spPr>
        <p:txBody>
          <a:bodyPr wrap="square" anchor="ctr" lIns="0" rIns="0" tIns="0" bIns="0"/>
          <a:lstStyle/>
          <a:p>
            <a:pPr algn="ctr">
              <a:lnSpc>
                <a:spcPct val="115000"/>
              </a:lnSpc>
              <a:spcAft>
                <a:spcPts val="600"/>
              </a:spcAft>
            </a:pPr>
            <a:r>
              <a:rPr sz="1600" b="0">
                <a:solidFill>
                  <a:srgbClr val="5B6B70"/>
                </a:solidFill>
                <a:latin typeface="IPAPGothic"/>
                <a:ea typeface="IPAPGothic"/>
                <a:cs typeface="IPAPGothic"/>
              </a:rPr>
              <a:t>記録の正本をまとめて保管</a:t>
            </a:r>
          </a:p>
        </p:txBody>
      </p:sp>
      <p:cxnSp>
        <p:nvCxnSpPr>
          <p:cNvPr id="17" name="Connector 16"/>
          <p:cNvCxnSpPr/>
          <p:nvPr/>
        </p:nvCxnSpPr>
        <p:spPr>
          <a:xfrm>
            <a:off x="3931920" y="3337560"/>
            <a:ext cx="429768" cy="0"/>
          </a:xfrm>
          <a:prstGeom prst="line">
            <a:avLst/>
          </a:prstGeom>
          <a:ln w="50800">
            <a:solidFill>
              <a:srgbClr val="7CC4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36408" y="3337560"/>
            <a:ext cx="429767" cy="0"/>
          </a:xfrm>
          <a:prstGeom prst="line">
            <a:avLst/>
          </a:prstGeom>
          <a:ln w="50800">
            <a:solidFill>
              <a:srgbClr val="7CC4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4343400"/>
            <a:ext cx="10972800" cy="365760"/>
          </a:xfrm>
          <a:prstGeom prst="rect">
            <a:avLst/>
          </a:prstGeom>
          <a:noFill/>
        </p:spPr>
        <p:txBody>
          <a:bodyPr wrap="square" anchor="t" lIns="0" rIns="0" tIns="0" bIns="0"/>
          <a:lstStyle/>
          <a:p>
            <a:pPr algn="ctr">
              <a:lnSpc>
                <a:spcPct val="115000"/>
              </a:lnSpc>
              <a:spcAft>
                <a:spcPts val="600"/>
              </a:spcAft>
            </a:pPr>
            <a:r>
              <a:rPr sz="1700" b="0">
                <a:solidFill>
                  <a:srgbClr val="5B6B70"/>
                </a:solidFill>
                <a:latin typeface="IPAPGothic"/>
                <a:ea typeface="IPAPGothic"/>
                <a:cs typeface="IPAPGothic"/>
              </a:rPr>
              <a:t>今お使いのGoogleのサービスとも、これまでどおりつながります</a:t>
            </a:r>
          </a:p>
        </p:txBody>
      </p:sp>
      <p:sp>
        <p:nvSpPr>
          <p:cNvPr id="20" name="Rounded Rectangle 19"/>
          <p:cNvSpPr/>
          <p:nvPr/>
        </p:nvSpPr>
        <p:spPr>
          <a:xfrm>
            <a:off x="548640" y="4800600"/>
            <a:ext cx="2606040" cy="1325880"/>
          </a:xfrm>
          <a:prstGeom prst="roundRect">
            <a:avLst>
              <a:gd name="adj" fmla="val 8000"/>
            </a:avLst>
          </a:prstGeom>
          <a:solidFill>
            <a:srgbClr val="FFFFFF"/>
          </a:solidFill>
          <a:ln w="15875">
            <a:solidFill>
              <a:srgbClr val="7CC4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4892040"/>
            <a:ext cx="2606040" cy="502920"/>
          </a:xfrm>
          <a:prstGeom prst="rect">
            <a:avLst/>
          </a:prstGeom>
          <a:noFill/>
        </p:spPr>
        <p:txBody>
          <a:bodyPr wrap="square" anchor="ctr" lIns="0" rIns="0" tIns="0" bIns="0"/>
          <a:lstStyle/>
          <a:p>
            <a:pPr algn="ctr">
              <a:lnSpc>
                <a:spcPct val="115000"/>
              </a:lnSpc>
              <a:spcAft>
                <a:spcPts val="600"/>
              </a:spcAft>
            </a:pPr>
            <a:r>
              <a:rPr sz="1800" b="1">
                <a:solidFill>
                  <a:srgbClr val="0E4F5C"/>
                </a:solidFill>
                <a:latin typeface="IPAPGothic"/>
                <a:ea typeface="IPAPGothic"/>
                <a:cs typeface="IPAPGothic"/>
              </a:rPr>
              <a:t>Googleカレンダー</a:t>
            </a:r>
          </a:p>
        </p:txBody>
      </p:sp>
      <p:sp>
        <p:nvSpPr>
          <p:cNvPr id="22" name="TextBox 21"/>
          <p:cNvSpPr txBox="1"/>
          <p:nvPr/>
        </p:nvSpPr>
        <p:spPr>
          <a:xfrm>
            <a:off x="548640" y="5394960"/>
            <a:ext cx="2606040" cy="594360"/>
          </a:xfrm>
          <a:prstGeom prst="rect">
            <a:avLst/>
          </a:prstGeom>
          <a:noFill/>
        </p:spPr>
        <p:txBody>
          <a:bodyPr wrap="square" anchor="ctr" lIns="0" rIns="0" tIns="0" bIns="0"/>
          <a:lstStyle/>
          <a:p>
            <a:pPr algn="ctr">
              <a:lnSpc>
                <a:spcPct val="115000"/>
              </a:lnSpc>
              <a:spcAft>
                <a:spcPts val="600"/>
              </a:spcAft>
            </a:pPr>
            <a:r>
              <a:rPr sz="1500" b="0">
                <a:solidFill>
                  <a:srgbClr val="1F2D33"/>
                </a:solidFill>
                <a:latin typeface="IPAPGothic"/>
                <a:ea typeface="IPAPGothic"/>
                <a:cs typeface="IPAPGothic"/>
              </a:rPr>
              <a:t>予定を今までどおり読む</a:t>
            </a:r>
          </a:p>
        </p:txBody>
      </p:sp>
      <p:sp>
        <p:nvSpPr>
          <p:cNvPr id="23" name="Rounded Rectangle 22"/>
          <p:cNvSpPr/>
          <p:nvPr/>
        </p:nvSpPr>
        <p:spPr>
          <a:xfrm>
            <a:off x="3355848" y="4800600"/>
            <a:ext cx="2606040" cy="1325880"/>
          </a:xfrm>
          <a:prstGeom prst="roundRect">
            <a:avLst>
              <a:gd name="adj" fmla="val 8000"/>
            </a:avLst>
          </a:prstGeom>
          <a:solidFill>
            <a:srgbClr val="FFFFFF"/>
          </a:solidFill>
          <a:ln w="15875">
            <a:solidFill>
              <a:srgbClr val="7CC4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355848" y="4892040"/>
            <a:ext cx="2606040" cy="502920"/>
          </a:xfrm>
          <a:prstGeom prst="rect">
            <a:avLst/>
          </a:prstGeom>
          <a:noFill/>
        </p:spPr>
        <p:txBody>
          <a:bodyPr wrap="square" anchor="ctr" lIns="0" rIns="0" tIns="0" bIns="0"/>
          <a:lstStyle/>
          <a:p>
            <a:pPr algn="ctr">
              <a:lnSpc>
                <a:spcPct val="115000"/>
              </a:lnSpc>
              <a:spcAft>
                <a:spcPts val="600"/>
              </a:spcAft>
            </a:pPr>
            <a:r>
              <a:rPr sz="1800" b="1">
                <a:solidFill>
                  <a:srgbClr val="0E4F5C"/>
                </a:solidFill>
                <a:latin typeface="IPAPGothic"/>
                <a:ea typeface="IPAPGothic"/>
                <a:cs typeface="IPAPGothic"/>
              </a:rPr>
              <a:t>Googleドライブ</a:t>
            </a:r>
          </a:p>
        </p:txBody>
      </p:sp>
      <p:sp>
        <p:nvSpPr>
          <p:cNvPr id="25" name="TextBox 24"/>
          <p:cNvSpPr txBox="1"/>
          <p:nvPr/>
        </p:nvSpPr>
        <p:spPr>
          <a:xfrm>
            <a:off x="3355848" y="5394960"/>
            <a:ext cx="2606040" cy="594360"/>
          </a:xfrm>
          <a:prstGeom prst="rect">
            <a:avLst/>
          </a:prstGeom>
          <a:noFill/>
        </p:spPr>
        <p:txBody>
          <a:bodyPr wrap="square" anchor="ctr" lIns="0" rIns="0" tIns="0" bIns="0"/>
          <a:lstStyle/>
          <a:p>
            <a:pPr algn="ctr">
              <a:lnSpc>
                <a:spcPct val="115000"/>
              </a:lnSpc>
              <a:spcAft>
                <a:spcPts val="600"/>
              </a:spcAft>
            </a:pPr>
            <a:r>
              <a:rPr sz="1500" b="0">
                <a:solidFill>
                  <a:srgbClr val="1F2D33"/>
                </a:solidFill>
                <a:latin typeface="IPAPGothic"/>
                <a:ea typeface="IPAPGothic"/>
                <a:cs typeface="IPAPGothic"/>
              </a:rPr>
              <a:t>顧客CSVを10分ごとに取り込む</a:t>
            </a:r>
          </a:p>
        </p:txBody>
      </p:sp>
      <p:sp>
        <p:nvSpPr>
          <p:cNvPr id="26" name="Rounded Rectangle 25"/>
          <p:cNvSpPr/>
          <p:nvPr/>
        </p:nvSpPr>
        <p:spPr>
          <a:xfrm>
            <a:off x="6163055" y="4800600"/>
            <a:ext cx="2606040" cy="1325880"/>
          </a:xfrm>
          <a:prstGeom prst="roundRect">
            <a:avLst>
              <a:gd name="adj" fmla="val 8000"/>
            </a:avLst>
          </a:prstGeom>
          <a:solidFill>
            <a:srgbClr val="FFFFFF"/>
          </a:solidFill>
          <a:ln w="15875">
            <a:solidFill>
              <a:srgbClr val="7CC4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163055" y="4892040"/>
            <a:ext cx="2606040" cy="502920"/>
          </a:xfrm>
          <a:prstGeom prst="rect">
            <a:avLst/>
          </a:prstGeom>
          <a:noFill/>
        </p:spPr>
        <p:txBody>
          <a:bodyPr wrap="square" anchor="ctr" lIns="0" rIns="0" tIns="0" bIns="0"/>
          <a:lstStyle/>
          <a:p>
            <a:pPr algn="ctr">
              <a:lnSpc>
                <a:spcPct val="115000"/>
              </a:lnSpc>
              <a:spcAft>
                <a:spcPts val="600"/>
              </a:spcAft>
            </a:pPr>
            <a:r>
              <a:rPr sz="1800" b="1">
                <a:solidFill>
                  <a:srgbClr val="0E4F5C"/>
                </a:solidFill>
                <a:latin typeface="IPAPGothic"/>
                <a:ea typeface="IPAPGothic"/>
                <a:cs typeface="IPAPGothic"/>
              </a:rPr>
              <a:t>スプレッドシート</a:t>
            </a:r>
          </a:p>
        </p:txBody>
      </p:sp>
      <p:sp>
        <p:nvSpPr>
          <p:cNvPr id="28" name="TextBox 27"/>
          <p:cNvSpPr txBox="1"/>
          <p:nvPr/>
        </p:nvSpPr>
        <p:spPr>
          <a:xfrm>
            <a:off x="6163055" y="5394960"/>
            <a:ext cx="2606040" cy="594360"/>
          </a:xfrm>
          <a:prstGeom prst="rect">
            <a:avLst/>
          </a:prstGeom>
          <a:noFill/>
        </p:spPr>
        <p:txBody>
          <a:bodyPr wrap="square" anchor="ctr" lIns="0" rIns="0" tIns="0" bIns="0"/>
          <a:lstStyle/>
          <a:p>
            <a:pPr algn="ctr">
              <a:lnSpc>
                <a:spcPct val="115000"/>
              </a:lnSpc>
              <a:spcAft>
                <a:spcPts val="600"/>
              </a:spcAft>
            </a:pPr>
            <a:r>
              <a:rPr sz="1500" b="0">
                <a:solidFill>
                  <a:srgbClr val="1F2D33"/>
                </a:solidFill>
                <a:latin typeface="IPAPGothic"/>
                <a:ea typeface="IPAPGothic"/>
                <a:cs typeface="IPAPGothic"/>
              </a:rPr>
              <a:t>必要な間だけ書き写す</a:t>
            </a:r>
          </a:p>
        </p:txBody>
      </p:sp>
      <p:sp>
        <p:nvSpPr>
          <p:cNvPr id="29" name="Rounded Rectangle 28"/>
          <p:cNvSpPr/>
          <p:nvPr/>
        </p:nvSpPr>
        <p:spPr>
          <a:xfrm>
            <a:off x="8970263" y="4800600"/>
            <a:ext cx="2606040" cy="1325880"/>
          </a:xfrm>
          <a:prstGeom prst="roundRect">
            <a:avLst>
              <a:gd name="adj" fmla="val 8000"/>
            </a:avLst>
          </a:prstGeom>
          <a:solidFill>
            <a:srgbClr val="FFFFFF"/>
          </a:solidFill>
          <a:ln w="15875">
            <a:solidFill>
              <a:srgbClr val="7CC4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70263" y="4892040"/>
            <a:ext cx="2606040" cy="502920"/>
          </a:xfrm>
          <a:prstGeom prst="rect">
            <a:avLst/>
          </a:prstGeom>
          <a:noFill/>
        </p:spPr>
        <p:txBody>
          <a:bodyPr wrap="square" anchor="ctr" lIns="0" rIns="0" tIns="0" bIns="0"/>
          <a:lstStyle/>
          <a:p>
            <a:pPr algn="ctr">
              <a:lnSpc>
                <a:spcPct val="115000"/>
              </a:lnSpc>
              <a:spcAft>
                <a:spcPts val="600"/>
              </a:spcAft>
            </a:pPr>
            <a:r>
              <a:rPr sz="1800" b="1">
                <a:solidFill>
                  <a:srgbClr val="0E4F5C"/>
                </a:solidFill>
                <a:latin typeface="IPAPGothic"/>
                <a:ea typeface="IPAPGothic"/>
                <a:cs typeface="IPAPGothic"/>
              </a:rPr>
              <a:t>地図・AI・チャット</a:t>
            </a:r>
          </a:p>
        </p:txBody>
      </p:sp>
      <p:sp>
        <p:nvSpPr>
          <p:cNvPr id="31" name="TextBox 30"/>
          <p:cNvSpPr txBox="1"/>
          <p:nvPr/>
        </p:nvSpPr>
        <p:spPr>
          <a:xfrm>
            <a:off x="8970263" y="5394960"/>
            <a:ext cx="2606040" cy="594360"/>
          </a:xfrm>
          <a:prstGeom prst="rect">
            <a:avLst/>
          </a:prstGeom>
          <a:noFill/>
        </p:spPr>
        <p:txBody>
          <a:bodyPr wrap="square" anchor="ctr" lIns="0" rIns="0" tIns="0" bIns="0"/>
          <a:lstStyle/>
          <a:p>
            <a:pPr algn="ctr">
              <a:lnSpc>
                <a:spcPct val="115000"/>
              </a:lnSpc>
              <a:spcAft>
                <a:spcPts val="600"/>
              </a:spcAft>
            </a:pPr>
            <a:r>
              <a:rPr sz="1500" b="0">
                <a:solidFill>
                  <a:srgbClr val="1F2D33"/>
                </a:solidFill>
                <a:latin typeface="IPAPGothic"/>
                <a:ea typeface="IPAPGothic"/>
                <a:cs typeface="IPAPGothic"/>
              </a:rPr>
              <a:t>道順・日報の下書き・通知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画面</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スタッフの使い方はほぼそのまま(1)</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5 / 23</a:t>
            </a:r>
          </a:p>
        </p:txBody>
      </p:sp>
      <p:sp>
        <p:nvSpPr>
          <p:cNvPr id="6" name="TextBox 5"/>
          <p:cNvSpPr txBox="1"/>
          <p:nvPr/>
        </p:nvSpPr>
        <p:spPr>
          <a:xfrm>
            <a:off x="548640" y="1188720"/>
            <a:ext cx="10972800" cy="411480"/>
          </a:xfrm>
          <a:prstGeom prst="rect">
            <a:avLst/>
          </a:prstGeom>
          <a:noFill/>
        </p:spPr>
        <p:txBody>
          <a:bodyPr wrap="square" anchor="t" lIns="0" rIns="0" tIns="0" bIns="0"/>
          <a:lstStyle/>
          <a:p>
            <a:pPr algn="l">
              <a:lnSpc>
                <a:spcPct val="115000"/>
              </a:lnSpc>
              <a:spcAft>
                <a:spcPts val="600"/>
              </a:spcAft>
            </a:pPr>
            <a:r>
              <a:rPr sz="1700" b="0">
                <a:solidFill>
                  <a:srgbClr val="5B6B70"/>
                </a:solidFill>
                <a:latin typeface="IPAPGothic"/>
                <a:ea typeface="IPAPGothic"/>
                <a:cs typeface="IPAPGothic"/>
              </a:rPr>
              <a:t>左が今のアプリ、右が新しいアプリです（どちらも架空の人物・住所）。</a:t>
            </a:r>
          </a:p>
        </p:txBody>
      </p:sp>
      <p:sp>
        <p:nvSpPr>
          <p:cNvPr id="7" name="TextBox 6"/>
          <p:cNvSpPr txBox="1"/>
          <p:nvPr/>
        </p:nvSpPr>
        <p:spPr>
          <a:xfrm>
            <a:off x="822960"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5B6B70"/>
                </a:solidFill>
                <a:latin typeface="IPAPGothic"/>
                <a:ea typeface="IPAPGothic"/>
                <a:cs typeface="IPAPGothic"/>
              </a:rPr>
              <a:t>今のアプリ</a:t>
            </a:r>
          </a:p>
        </p:txBody>
      </p:sp>
      <p:sp>
        <p:nvSpPr>
          <p:cNvPr id="8" name="Rounded Rectangle 7"/>
          <p:cNvSpPr/>
          <p:nvPr/>
        </p:nvSpPr>
        <p:spPr>
          <a:xfrm>
            <a:off x="786384"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ogin.gas.png"/>
          <p:cNvPicPr>
            <a:picLocks noChangeAspect="1"/>
          </p:cNvPicPr>
          <p:nvPr/>
        </p:nvPicPr>
        <p:blipFill>
          <a:blip r:embed="rId2"/>
          <a:stretch>
            <a:fillRect/>
          </a:stretch>
        </p:blipFill>
        <p:spPr>
          <a:xfrm>
            <a:off x="822960" y="2002536"/>
            <a:ext cx="2436875" cy="3749039"/>
          </a:xfrm>
          <a:prstGeom prst="rect">
            <a:avLst/>
          </a:prstGeom>
        </p:spPr>
      </p:pic>
      <p:sp>
        <p:nvSpPr>
          <p:cNvPr id="10" name="TextBox 9"/>
          <p:cNvSpPr txBox="1"/>
          <p:nvPr/>
        </p:nvSpPr>
        <p:spPr>
          <a:xfrm>
            <a:off x="3424427"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1F8A8A"/>
                </a:solidFill>
                <a:latin typeface="IPAPGothic"/>
                <a:ea typeface="IPAPGothic"/>
                <a:cs typeface="IPAPGothic"/>
              </a:rPr>
              <a:t>新しいアプリ</a:t>
            </a:r>
          </a:p>
        </p:txBody>
      </p:sp>
      <p:sp>
        <p:nvSpPr>
          <p:cNvPr id="11" name="Rounded Rectangle 10"/>
          <p:cNvSpPr/>
          <p:nvPr/>
        </p:nvSpPr>
        <p:spPr>
          <a:xfrm>
            <a:off x="3387851"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gin.gas.png"/>
          <p:cNvPicPr>
            <a:picLocks noChangeAspect="1"/>
          </p:cNvPicPr>
          <p:nvPr/>
        </p:nvPicPr>
        <p:blipFill>
          <a:blip r:embed="rId2"/>
          <a:stretch>
            <a:fillRect/>
          </a:stretch>
        </p:blipFill>
        <p:spPr>
          <a:xfrm>
            <a:off x="3424427" y="2002536"/>
            <a:ext cx="2436875" cy="3749039"/>
          </a:xfrm>
          <a:prstGeom prst="rect">
            <a:avLst/>
          </a:prstGeom>
        </p:spPr>
      </p:pic>
      <p:sp>
        <p:nvSpPr>
          <p:cNvPr id="13" name="TextBox 12"/>
          <p:cNvSpPr txBox="1"/>
          <p:nvPr/>
        </p:nvSpPr>
        <p:spPr>
          <a:xfrm>
            <a:off x="822960" y="5852159"/>
            <a:ext cx="5038343" cy="365760"/>
          </a:xfrm>
          <a:prstGeom prst="rect">
            <a:avLst/>
          </a:prstGeom>
          <a:noFill/>
        </p:spPr>
        <p:txBody>
          <a:bodyPr wrap="square" anchor="t" lIns="0" rIns="0" tIns="0" bIns="0"/>
          <a:lstStyle/>
          <a:p>
            <a:pPr algn="ctr">
              <a:lnSpc>
                <a:spcPct val="115000"/>
              </a:lnSpc>
              <a:spcAft>
                <a:spcPts val="600"/>
              </a:spcAft>
            </a:pPr>
            <a:r>
              <a:rPr sz="1800" b="1">
                <a:solidFill>
                  <a:srgbClr val="1F2D33"/>
                </a:solidFill>
                <a:latin typeface="IPAPGothic"/>
                <a:ea typeface="IPAPGothic"/>
                <a:cs typeface="IPAPGothic"/>
              </a:rPr>
              <a:t>ログイン</a:t>
            </a:r>
          </a:p>
        </p:txBody>
      </p:sp>
      <p:sp>
        <p:nvSpPr>
          <p:cNvPr id="14" name="TextBox 13"/>
          <p:cNvSpPr txBox="1"/>
          <p:nvPr/>
        </p:nvSpPr>
        <p:spPr>
          <a:xfrm>
            <a:off x="6492240"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5B6B70"/>
                </a:solidFill>
                <a:latin typeface="IPAPGothic"/>
                <a:ea typeface="IPAPGothic"/>
                <a:cs typeface="IPAPGothic"/>
              </a:rPr>
              <a:t>今のアプリ</a:t>
            </a:r>
          </a:p>
        </p:txBody>
      </p:sp>
      <p:sp>
        <p:nvSpPr>
          <p:cNvPr id="15" name="Rounded Rectangle 14"/>
          <p:cNvSpPr/>
          <p:nvPr/>
        </p:nvSpPr>
        <p:spPr>
          <a:xfrm>
            <a:off x="6455664"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chedule-today.gas.png"/>
          <p:cNvPicPr>
            <a:picLocks noChangeAspect="1"/>
          </p:cNvPicPr>
          <p:nvPr/>
        </p:nvPicPr>
        <p:blipFill>
          <a:blip r:embed="rId3"/>
          <a:stretch>
            <a:fillRect/>
          </a:stretch>
        </p:blipFill>
        <p:spPr>
          <a:xfrm>
            <a:off x="6492240" y="2002536"/>
            <a:ext cx="2436875" cy="3749039"/>
          </a:xfrm>
          <a:prstGeom prst="rect">
            <a:avLst/>
          </a:prstGeom>
        </p:spPr>
      </p:pic>
      <p:sp>
        <p:nvSpPr>
          <p:cNvPr id="17" name="TextBox 16"/>
          <p:cNvSpPr txBox="1"/>
          <p:nvPr/>
        </p:nvSpPr>
        <p:spPr>
          <a:xfrm>
            <a:off x="9093708"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1F8A8A"/>
                </a:solidFill>
                <a:latin typeface="IPAPGothic"/>
                <a:ea typeface="IPAPGothic"/>
                <a:cs typeface="IPAPGothic"/>
              </a:rPr>
              <a:t>新しいアプリ</a:t>
            </a:r>
          </a:p>
        </p:txBody>
      </p:sp>
      <p:sp>
        <p:nvSpPr>
          <p:cNvPr id="18" name="Rounded Rectangle 17"/>
          <p:cNvSpPr/>
          <p:nvPr/>
        </p:nvSpPr>
        <p:spPr>
          <a:xfrm>
            <a:off x="9057132"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chedule-today.gas.png"/>
          <p:cNvPicPr>
            <a:picLocks noChangeAspect="1"/>
          </p:cNvPicPr>
          <p:nvPr/>
        </p:nvPicPr>
        <p:blipFill>
          <a:blip r:embed="rId3"/>
          <a:stretch>
            <a:fillRect/>
          </a:stretch>
        </p:blipFill>
        <p:spPr>
          <a:xfrm>
            <a:off x="9093708" y="2002536"/>
            <a:ext cx="2436875" cy="3749039"/>
          </a:xfrm>
          <a:prstGeom prst="rect">
            <a:avLst/>
          </a:prstGeom>
        </p:spPr>
      </p:pic>
      <p:sp>
        <p:nvSpPr>
          <p:cNvPr id="20" name="TextBox 19"/>
          <p:cNvSpPr txBox="1"/>
          <p:nvPr/>
        </p:nvSpPr>
        <p:spPr>
          <a:xfrm>
            <a:off x="6492240" y="5852159"/>
            <a:ext cx="5038343" cy="365760"/>
          </a:xfrm>
          <a:prstGeom prst="rect">
            <a:avLst/>
          </a:prstGeom>
          <a:noFill/>
        </p:spPr>
        <p:txBody>
          <a:bodyPr wrap="square" anchor="t" lIns="0" rIns="0" tIns="0" bIns="0"/>
          <a:lstStyle/>
          <a:p>
            <a:pPr algn="ctr">
              <a:lnSpc>
                <a:spcPct val="115000"/>
              </a:lnSpc>
              <a:spcAft>
                <a:spcPts val="600"/>
              </a:spcAft>
            </a:pPr>
            <a:r>
              <a:rPr sz="1800" b="1">
                <a:solidFill>
                  <a:srgbClr val="1F2D33"/>
                </a:solidFill>
                <a:latin typeface="IPAPGothic"/>
                <a:ea typeface="IPAPGothic"/>
                <a:cs typeface="IPAPGothic"/>
              </a:rPr>
              <a:t>今日の予定と道順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画面</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スタッフの使い方はほぼそのまま(2)</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6 / 23</a:t>
            </a:r>
          </a:p>
        </p:txBody>
      </p:sp>
      <p:sp>
        <p:nvSpPr>
          <p:cNvPr id="6" name="TextBox 5"/>
          <p:cNvSpPr txBox="1"/>
          <p:nvPr/>
        </p:nvSpPr>
        <p:spPr>
          <a:xfrm>
            <a:off x="548640" y="1188720"/>
            <a:ext cx="10972800" cy="411480"/>
          </a:xfrm>
          <a:prstGeom prst="rect">
            <a:avLst/>
          </a:prstGeom>
          <a:noFill/>
        </p:spPr>
        <p:txBody>
          <a:bodyPr wrap="square" anchor="t" lIns="0" rIns="0" tIns="0" bIns="0"/>
          <a:lstStyle/>
          <a:p>
            <a:pPr algn="l">
              <a:lnSpc>
                <a:spcPct val="115000"/>
              </a:lnSpc>
              <a:spcAft>
                <a:spcPts val="600"/>
              </a:spcAft>
            </a:pPr>
            <a:r>
              <a:rPr sz="1700" b="0">
                <a:solidFill>
                  <a:srgbClr val="5B6B70"/>
                </a:solidFill>
                <a:latin typeface="IPAPGothic"/>
                <a:ea typeface="IPAPGothic"/>
                <a:cs typeface="IPAPGothic"/>
              </a:rPr>
              <a:t>お客様の情報や、AIが下書きする日報も、今の流れのまま使えます。</a:t>
            </a:r>
          </a:p>
        </p:txBody>
      </p:sp>
      <p:sp>
        <p:nvSpPr>
          <p:cNvPr id="7" name="TextBox 6"/>
          <p:cNvSpPr txBox="1"/>
          <p:nvPr/>
        </p:nvSpPr>
        <p:spPr>
          <a:xfrm>
            <a:off x="822960"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5B6B70"/>
                </a:solidFill>
                <a:latin typeface="IPAPGothic"/>
                <a:ea typeface="IPAPGothic"/>
                <a:cs typeface="IPAPGothic"/>
              </a:rPr>
              <a:t>今のアプリ</a:t>
            </a:r>
          </a:p>
        </p:txBody>
      </p:sp>
      <p:sp>
        <p:nvSpPr>
          <p:cNvPr id="8" name="Rounded Rectangle 7"/>
          <p:cNvSpPr/>
          <p:nvPr/>
        </p:nvSpPr>
        <p:spPr>
          <a:xfrm>
            <a:off x="786384"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ustomer-detail.gas.png"/>
          <p:cNvPicPr>
            <a:picLocks noChangeAspect="1"/>
          </p:cNvPicPr>
          <p:nvPr/>
        </p:nvPicPr>
        <p:blipFill>
          <a:blip r:embed="rId2"/>
          <a:stretch>
            <a:fillRect/>
          </a:stretch>
        </p:blipFill>
        <p:spPr>
          <a:xfrm>
            <a:off x="822960" y="2002536"/>
            <a:ext cx="2436875" cy="3749039"/>
          </a:xfrm>
          <a:prstGeom prst="rect">
            <a:avLst/>
          </a:prstGeom>
        </p:spPr>
      </p:pic>
      <p:sp>
        <p:nvSpPr>
          <p:cNvPr id="10" name="TextBox 9"/>
          <p:cNvSpPr txBox="1"/>
          <p:nvPr/>
        </p:nvSpPr>
        <p:spPr>
          <a:xfrm>
            <a:off x="3424427"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1F8A8A"/>
                </a:solidFill>
                <a:latin typeface="IPAPGothic"/>
                <a:ea typeface="IPAPGothic"/>
                <a:cs typeface="IPAPGothic"/>
              </a:rPr>
              <a:t>新しいアプリ</a:t>
            </a:r>
          </a:p>
        </p:txBody>
      </p:sp>
      <p:sp>
        <p:nvSpPr>
          <p:cNvPr id="11" name="Rounded Rectangle 10"/>
          <p:cNvSpPr/>
          <p:nvPr/>
        </p:nvSpPr>
        <p:spPr>
          <a:xfrm>
            <a:off x="3387851"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ustomer-detail.gas.png"/>
          <p:cNvPicPr>
            <a:picLocks noChangeAspect="1"/>
          </p:cNvPicPr>
          <p:nvPr/>
        </p:nvPicPr>
        <p:blipFill>
          <a:blip r:embed="rId2"/>
          <a:stretch>
            <a:fillRect/>
          </a:stretch>
        </p:blipFill>
        <p:spPr>
          <a:xfrm>
            <a:off x="3424427" y="2002536"/>
            <a:ext cx="2436875" cy="3749039"/>
          </a:xfrm>
          <a:prstGeom prst="rect">
            <a:avLst/>
          </a:prstGeom>
        </p:spPr>
      </p:pic>
      <p:sp>
        <p:nvSpPr>
          <p:cNvPr id="13" name="TextBox 12"/>
          <p:cNvSpPr txBox="1"/>
          <p:nvPr/>
        </p:nvSpPr>
        <p:spPr>
          <a:xfrm>
            <a:off x="822960" y="5852159"/>
            <a:ext cx="5038343" cy="365760"/>
          </a:xfrm>
          <a:prstGeom prst="rect">
            <a:avLst/>
          </a:prstGeom>
          <a:noFill/>
        </p:spPr>
        <p:txBody>
          <a:bodyPr wrap="square" anchor="t" lIns="0" rIns="0" tIns="0" bIns="0"/>
          <a:lstStyle/>
          <a:p>
            <a:pPr algn="ctr">
              <a:lnSpc>
                <a:spcPct val="115000"/>
              </a:lnSpc>
              <a:spcAft>
                <a:spcPts val="600"/>
              </a:spcAft>
            </a:pPr>
            <a:r>
              <a:rPr sz="1800" b="1">
                <a:solidFill>
                  <a:srgbClr val="1F2D33"/>
                </a:solidFill>
                <a:latin typeface="IPAPGothic"/>
                <a:ea typeface="IPAPGothic"/>
                <a:cs typeface="IPAPGothic"/>
              </a:rPr>
              <a:t>お客様の情報</a:t>
            </a:r>
          </a:p>
        </p:txBody>
      </p:sp>
      <p:sp>
        <p:nvSpPr>
          <p:cNvPr id="14" name="TextBox 13"/>
          <p:cNvSpPr txBox="1"/>
          <p:nvPr/>
        </p:nvSpPr>
        <p:spPr>
          <a:xfrm>
            <a:off x="6492240"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5B6B70"/>
                </a:solidFill>
                <a:latin typeface="IPAPGothic"/>
                <a:ea typeface="IPAPGothic"/>
                <a:cs typeface="IPAPGothic"/>
              </a:rPr>
              <a:t>今のアプリ</a:t>
            </a:r>
          </a:p>
        </p:txBody>
      </p:sp>
      <p:sp>
        <p:nvSpPr>
          <p:cNvPr id="15" name="Rounded Rectangle 14"/>
          <p:cNvSpPr/>
          <p:nvPr/>
        </p:nvSpPr>
        <p:spPr>
          <a:xfrm>
            <a:off x="6455664"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eport-daily-result.gas.png"/>
          <p:cNvPicPr>
            <a:picLocks noChangeAspect="1"/>
          </p:cNvPicPr>
          <p:nvPr/>
        </p:nvPicPr>
        <p:blipFill>
          <a:blip r:embed="rId3"/>
          <a:stretch>
            <a:fillRect/>
          </a:stretch>
        </p:blipFill>
        <p:spPr>
          <a:xfrm>
            <a:off x="6492240" y="2002536"/>
            <a:ext cx="2436875" cy="3749039"/>
          </a:xfrm>
          <a:prstGeom prst="rect">
            <a:avLst/>
          </a:prstGeom>
        </p:spPr>
      </p:pic>
      <p:sp>
        <p:nvSpPr>
          <p:cNvPr id="17" name="TextBox 16"/>
          <p:cNvSpPr txBox="1"/>
          <p:nvPr/>
        </p:nvSpPr>
        <p:spPr>
          <a:xfrm>
            <a:off x="9093708"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1F8A8A"/>
                </a:solidFill>
                <a:latin typeface="IPAPGothic"/>
                <a:ea typeface="IPAPGothic"/>
                <a:cs typeface="IPAPGothic"/>
              </a:rPr>
              <a:t>新しいアプリ</a:t>
            </a:r>
          </a:p>
        </p:txBody>
      </p:sp>
      <p:sp>
        <p:nvSpPr>
          <p:cNvPr id="18" name="Rounded Rectangle 17"/>
          <p:cNvSpPr/>
          <p:nvPr/>
        </p:nvSpPr>
        <p:spPr>
          <a:xfrm>
            <a:off x="9057132"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report-daily-result.gas.png"/>
          <p:cNvPicPr>
            <a:picLocks noChangeAspect="1"/>
          </p:cNvPicPr>
          <p:nvPr/>
        </p:nvPicPr>
        <p:blipFill>
          <a:blip r:embed="rId3"/>
          <a:stretch>
            <a:fillRect/>
          </a:stretch>
        </p:blipFill>
        <p:spPr>
          <a:xfrm>
            <a:off x="9093708" y="2002536"/>
            <a:ext cx="2436875" cy="3749039"/>
          </a:xfrm>
          <a:prstGeom prst="rect">
            <a:avLst/>
          </a:prstGeom>
        </p:spPr>
      </p:pic>
      <p:sp>
        <p:nvSpPr>
          <p:cNvPr id="20" name="TextBox 19"/>
          <p:cNvSpPr txBox="1"/>
          <p:nvPr/>
        </p:nvSpPr>
        <p:spPr>
          <a:xfrm>
            <a:off x="6492240" y="5852159"/>
            <a:ext cx="5038343" cy="365760"/>
          </a:xfrm>
          <a:prstGeom prst="rect">
            <a:avLst/>
          </a:prstGeom>
          <a:noFill/>
        </p:spPr>
        <p:txBody>
          <a:bodyPr wrap="square" anchor="t" lIns="0" rIns="0" tIns="0" bIns="0"/>
          <a:lstStyle/>
          <a:p>
            <a:pPr algn="ctr">
              <a:lnSpc>
                <a:spcPct val="115000"/>
              </a:lnSpc>
              <a:spcAft>
                <a:spcPts val="600"/>
              </a:spcAft>
            </a:pPr>
            <a:r>
              <a:rPr sz="1800" b="1">
                <a:solidFill>
                  <a:srgbClr val="1F2D33"/>
                </a:solidFill>
                <a:latin typeface="IPAPGothic"/>
                <a:ea typeface="IPAPGothic"/>
                <a:cs typeface="IPAPGothic"/>
              </a:rPr>
              <a:t>日報(AIの下書き）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画面</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スタッフの使い方はほぼそのまま(3)</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7 / 23</a:t>
            </a:r>
          </a:p>
        </p:txBody>
      </p:sp>
      <p:sp>
        <p:nvSpPr>
          <p:cNvPr id="6" name="TextBox 5"/>
          <p:cNvSpPr txBox="1"/>
          <p:nvPr/>
        </p:nvSpPr>
        <p:spPr>
          <a:xfrm>
            <a:off x="548640" y="1188720"/>
            <a:ext cx="10972800" cy="411480"/>
          </a:xfrm>
          <a:prstGeom prst="rect">
            <a:avLst/>
          </a:prstGeom>
          <a:noFill/>
        </p:spPr>
        <p:txBody>
          <a:bodyPr wrap="square" anchor="t" lIns="0" rIns="0" tIns="0" bIns="0"/>
          <a:lstStyle/>
          <a:p>
            <a:pPr algn="l">
              <a:lnSpc>
                <a:spcPct val="115000"/>
              </a:lnSpc>
              <a:spcAft>
                <a:spcPts val="600"/>
              </a:spcAft>
            </a:pPr>
            <a:r>
              <a:rPr sz="1700" b="0">
                <a:solidFill>
                  <a:srgbClr val="5B6B70"/>
                </a:solidFill>
                <a:latin typeface="IPAPGothic"/>
                <a:ea typeface="IPAPGothic"/>
                <a:cs typeface="IPAPGothic"/>
              </a:rPr>
              <a:t>出勤簿も、週の一覧・1日の表示・修正の流れを引き継いでいます。</a:t>
            </a:r>
          </a:p>
        </p:txBody>
      </p:sp>
      <p:sp>
        <p:nvSpPr>
          <p:cNvPr id="7" name="TextBox 6"/>
          <p:cNvSpPr txBox="1"/>
          <p:nvPr/>
        </p:nvSpPr>
        <p:spPr>
          <a:xfrm>
            <a:off x="822960"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5B6B70"/>
                </a:solidFill>
                <a:latin typeface="IPAPGothic"/>
                <a:ea typeface="IPAPGothic"/>
                <a:cs typeface="IPAPGothic"/>
              </a:rPr>
              <a:t>今のアプリ</a:t>
            </a:r>
          </a:p>
        </p:txBody>
      </p:sp>
      <p:sp>
        <p:nvSpPr>
          <p:cNvPr id="8" name="Rounded Rectangle 7"/>
          <p:cNvSpPr/>
          <p:nvPr/>
        </p:nvSpPr>
        <p:spPr>
          <a:xfrm>
            <a:off x="786384"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tt-week-list.gas.png"/>
          <p:cNvPicPr>
            <a:picLocks noChangeAspect="1"/>
          </p:cNvPicPr>
          <p:nvPr/>
        </p:nvPicPr>
        <p:blipFill>
          <a:blip r:embed="rId2"/>
          <a:stretch>
            <a:fillRect/>
          </a:stretch>
        </p:blipFill>
        <p:spPr>
          <a:xfrm>
            <a:off x="822960" y="2002536"/>
            <a:ext cx="2436875" cy="3749039"/>
          </a:xfrm>
          <a:prstGeom prst="rect">
            <a:avLst/>
          </a:prstGeom>
        </p:spPr>
      </p:pic>
      <p:sp>
        <p:nvSpPr>
          <p:cNvPr id="10" name="TextBox 9"/>
          <p:cNvSpPr txBox="1"/>
          <p:nvPr/>
        </p:nvSpPr>
        <p:spPr>
          <a:xfrm>
            <a:off x="3424427" y="1600200"/>
            <a:ext cx="2436875" cy="320040"/>
          </a:xfrm>
          <a:prstGeom prst="rect">
            <a:avLst/>
          </a:prstGeom>
          <a:noFill/>
        </p:spPr>
        <p:txBody>
          <a:bodyPr wrap="square" anchor="t" lIns="0" rIns="0" tIns="0" bIns="0"/>
          <a:lstStyle/>
          <a:p>
            <a:pPr algn="ctr">
              <a:lnSpc>
                <a:spcPct val="115000"/>
              </a:lnSpc>
              <a:spcAft>
                <a:spcPts val="600"/>
              </a:spcAft>
            </a:pPr>
            <a:r>
              <a:rPr sz="1500" b="1">
                <a:solidFill>
                  <a:srgbClr val="1F8A8A"/>
                </a:solidFill>
                <a:latin typeface="IPAPGothic"/>
                <a:ea typeface="IPAPGothic"/>
                <a:cs typeface="IPAPGothic"/>
              </a:rPr>
              <a:t>新しいアプリ</a:t>
            </a:r>
          </a:p>
        </p:txBody>
      </p:sp>
      <p:sp>
        <p:nvSpPr>
          <p:cNvPr id="11" name="Rounded Rectangle 10"/>
          <p:cNvSpPr/>
          <p:nvPr/>
        </p:nvSpPr>
        <p:spPr>
          <a:xfrm>
            <a:off x="3387851" y="1965960"/>
            <a:ext cx="2510027" cy="3822191"/>
          </a:xfrm>
          <a:prstGeom prst="roundRect">
            <a:avLst>
              <a:gd name="adj" fmla="val 3000"/>
            </a:avLst>
          </a:prstGeom>
          <a:solidFill>
            <a:srgbClr val="C9D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tt-week-list.gas.png"/>
          <p:cNvPicPr>
            <a:picLocks noChangeAspect="1"/>
          </p:cNvPicPr>
          <p:nvPr/>
        </p:nvPicPr>
        <p:blipFill>
          <a:blip r:embed="rId2"/>
          <a:stretch>
            <a:fillRect/>
          </a:stretch>
        </p:blipFill>
        <p:spPr>
          <a:xfrm>
            <a:off x="3424427" y="2002536"/>
            <a:ext cx="2436875" cy="3749039"/>
          </a:xfrm>
          <a:prstGeom prst="rect">
            <a:avLst/>
          </a:prstGeom>
        </p:spPr>
      </p:pic>
      <p:sp>
        <p:nvSpPr>
          <p:cNvPr id="13" name="TextBox 12"/>
          <p:cNvSpPr txBox="1"/>
          <p:nvPr/>
        </p:nvSpPr>
        <p:spPr>
          <a:xfrm>
            <a:off x="822960" y="5852159"/>
            <a:ext cx="5038343" cy="365760"/>
          </a:xfrm>
          <a:prstGeom prst="rect">
            <a:avLst/>
          </a:prstGeom>
          <a:noFill/>
        </p:spPr>
        <p:txBody>
          <a:bodyPr wrap="square" anchor="t" lIns="0" rIns="0" tIns="0" bIns="0"/>
          <a:lstStyle/>
          <a:p>
            <a:pPr algn="ctr">
              <a:lnSpc>
                <a:spcPct val="115000"/>
              </a:lnSpc>
              <a:spcAft>
                <a:spcPts val="600"/>
              </a:spcAft>
            </a:pPr>
            <a:r>
              <a:rPr sz="1800" b="1">
                <a:solidFill>
                  <a:srgbClr val="1F2D33"/>
                </a:solidFill>
                <a:latin typeface="IPAPGothic"/>
                <a:ea typeface="IPAPGothic"/>
                <a:cs typeface="IPAPGothic"/>
              </a:rPr>
              <a:t>出勤簿（週の一覧）</a:t>
            </a:r>
          </a:p>
        </p:txBody>
      </p:sp>
      <p:sp>
        <p:nvSpPr>
          <p:cNvPr id="14" name="Rounded Rectangle 13"/>
          <p:cNvSpPr/>
          <p:nvPr/>
        </p:nvSpPr>
        <p:spPr>
          <a:xfrm>
            <a:off x="6492240" y="2011680"/>
            <a:ext cx="5148072" cy="41605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812280" y="228600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IPAPGothic"/>
                <a:ea typeface="IPAPGothic"/>
                <a:cs typeface="IPAPGothic"/>
              </a:rPr>
              <a:t>✓</a:t>
            </a:r>
          </a:p>
        </p:txBody>
      </p:sp>
      <p:sp>
        <p:nvSpPr>
          <p:cNvPr id="16" name="TextBox 15"/>
          <p:cNvSpPr txBox="1"/>
          <p:nvPr/>
        </p:nvSpPr>
        <p:spPr>
          <a:xfrm>
            <a:off x="7680960" y="2286000"/>
            <a:ext cx="3749039" cy="685800"/>
          </a:xfrm>
          <a:prstGeom prst="rect">
            <a:avLst/>
          </a:prstGeom>
          <a:noFill/>
        </p:spPr>
        <p:txBody>
          <a:bodyPr wrap="square" anchor="ctr" lIns="0" rIns="0" tIns="0" bIns="0"/>
          <a:lstStyle/>
          <a:p>
            <a:pPr algn="l">
              <a:lnSpc>
                <a:spcPct val="115000"/>
              </a:lnSpc>
              <a:spcAft>
                <a:spcPts val="600"/>
              </a:spcAft>
            </a:pPr>
            <a:r>
              <a:rPr sz="2400" b="1">
                <a:solidFill>
                  <a:srgbClr val="0E4F5C"/>
                </a:solidFill>
                <a:latin typeface="IPAPGothic"/>
                <a:ea typeface="IPAPGothic"/>
                <a:cs typeface="IPAPGothic"/>
              </a:rPr>
              <a:t>画面の引き継ぎ方</a:t>
            </a:r>
          </a:p>
        </p:txBody>
      </p:sp>
      <p:sp>
        <p:nvSpPr>
          <p:cNvPr id="17" name="TextBox 16"/>
          <p:cNvSpPr txBox="1"/>
          <p:nvPr/>
        </p:nvSpPr>
        <p:spPr>
          <a:xfrm>
            <a:off x="6812280" y="3200400"/>
            <a:ext cx="4572000" cy="2926080"/>
          </a:xfrm>
          <a:prstGeom prst="rect">
            <a:avLst/>
          </a:prstGeom>
          <a:noFill/>
        </p:spPr>
        <p:txBody>
          <a:bodyPr wrap="square" anchor="t" lIns="0" rIns="0" tIns="0" bIns="0"/>
          <a:lstStyle/>
          <a:p>
            <a:pPr algn="l">
              <a:lnSpc>
                <a:spcPct val="120000"/>
              </a:lnSpc>
              <a:spcAft>
                <a:spcPts val="10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今のアプリの画面をもとに、言葉・ボタンの並び・色を引き継いで作りました</a:t>
            </a:r>
          </a:p>
          <a:p>
            <a:pPr algn="l">
              <a:lnSpc>
                <a:spcPct val="120000"/>
              </a:lnSpc>
              <a:spcAft>
                <a:spcPts val="10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出勤簿や道順の計算は、今のアプリのプログラムと結果を突き合わせて確かめています</a:t>
            </a:r>
          </a:p>
          <a:p>
            <a:pPr algn="l">
              <a:lnSpc>
                <a:spcPct val="120000"/>
              </a:lnSpc>
              <a:spcAft>
                <a:spcPts val="10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これからの使いやすさの改善は、新しいアプリで行います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何が加わるか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新しく加わること① 明日の予定をスマホにお知らせ</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8 / 23</a:t>
            </a:r>
          </a:p>
        </p:txBody>
      </p:sp>
      <p:sp>
        <p:nvSpPr>
          <p:cNvPr id="6" name="TextBox 5"/>
          <p:cNvSpPr txBox="1"/>
          <p:nvPr/>
        </p:nvSpPr>
        <p:spPr>
          <a:xfrm>
            <a:off x="548640" y="1280160"/>
            <a:ext cx="11064240" cy="457200"/>
          </a:xfrm>
          <a:prstGeom prst="rect">
            <a:avLst/>
          </a:prstGeom>
          <a:noFill/>
        </p:spPr>
        <p:txBody>
          <a:bodyPr wrap="square" anchor="t" lIns="0" rIns="0" tIns="0" bIns="0"/>
          <a:lstStyle/>
          <a:p>
            <a:pPr algn="l">
              <a:lnSpc>
                <a:spcPct val="115000"/>
              </a:lnSpc>
              <a:spcAft>
                <a:spcPts val="600"/>
              </a:spcAft>
            </a:pPr>
            <a:r>
              <a:rPr sz="1800" b="0">
                <a:solidFill>
                  <a:srgbClr val="5B6B70"/>
                </a:solidFill>
                <a:latin typeface="IPAPGothic"/>
                <a:ea typeface="IPAPGothic"/>
                <a:cs typeface="IPAPGothic"/>
              </a:rPr>
              <a:t>今のLINE WORKSのお知らせに代わり、毎日19時に、明日の予定をアプリからスマホへお知らせします。</a:t>
            </a:r>
          </a:p>
        </p:txBody>
      </p:sp>
      <p:sp>
        <p:nvSpPr>
          <p:cNvPr id="7" name="Rounded Rectangle 6"/>
          <p:cNvSpPr/>
          <p:nvPr/>
        </p:nvSpPr>
        <p:spPr>
          <a:xfrm>
            <a:off x="548640" y="1920240"/>
            <a:ext cx="4846320" cy="3063240"/>
          </a:xfrm>
          <a:prstGeom prst="roundRect">
            <a:avLst>
              <a:gd name="adj" fmla="val 8000"/>
            </a:avLst>
          </a:prstGeom>
          <a:solidFill>
            <a:srgbClr val="D3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057400"/>
            <a:ext cx="4389120" cy="365760"/>
          </a:xfrm>
          <a:prstGeom prst="rect">
            <a:avLst/>
          </a:prstGeom>
          <a:noFill/>
        </p:spPr>
        <p:txBody>
          <a:bodyPr wrap="square" anchor="t" lIns="0" rIns="0" tIns="0" bIns="0"/>
          <a:lstStyle/>
          <a:p>
            <a:pPr algn="l">
              <a:lnSpc>
                <a:spcPct val="115000"/>
              </a:lnSpc>
              <a:spcAft>
                <a:spcPts val="600"/>
              </a:spcAft>
            </a:pPr>
            <a:r>
              <a:rPr sz="1500" b="1">
                <a:solidFill>
                  <a:srgbClr val="5B6B70"/>
                </a:solidFill>
                <a:latin typeface="IPAPGothic"/>
                <a:ea typeface="IPAPGothic"/>
                <a:cs typeface="IPAPGothic"/>
              </a:rPr>
              <a:t>スマホに届くお知らせ（見本）</a:t>
            </a:r>
          </a:p>
        </p:txBody>
      </p:sp>
      <p:sp>
        <p:nvSpPr>
          <p:cNvPr id="9" name="Rounded Rectangle 8"/>
          <p:cNvSpPr/>
          <p:nvPr/>
        </p:nvSpPr>
        <p:spPr>
          <a:xfrm>
            <a:off x="777240" y="2514600"/>
            <a:ext cx="4389120" cy="1874519"/>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633472"/>
            <a:ext cx="3931920" cy="411480"/>
          </a:xfrm>
          <a:prstGeom prst="rect">
            <a:avLst/>
          </a:prstGeom>
          <a:noFill/>
        </p:spPr>
        <p:txBody>
          <a:bodyPr wrap="square" anchor="t" lIns="0" rIns="0" tIns="0" bIns="0"/>
          <a:lstStyle/>
          <a:p>
            <a:pPr algn="l">
              <a:lnSpc>
                <a:spcPct val="115000"/>
              </a:lnSpc>
              <a:spcAft>
                <a:spcPts val="600"/>
              </a:spcAft>
            </a:pPr>
            <a:r>
              <a:rPr sz="1900" b="1">
                <a:solidFill>
                  <a:srgbClr val="0E4F5C"/>
                </a:solidFill>
                <a:latin typeface="IPAPGothic"/>
                <a:ea typeface="IPAPGothic"/>
                <a:cs typeface="IPAPGothic"/>
              </a:rPr>
              <a:t>明日の予定 9/27（日） 3件</a:t>
            </a:r>
          </a:p>
        </p:txBody>
      </p:sp>
      <p:sp>
        <p:nvSpPr>
          <p:cNvPr id="11" name="TextBox 10"/>
          <p:cNvSpPr txBox="1"/>
          <p:nvPr/>
        </p:nvSpPr>
        <p:spPr>
          <a:xfrm>
            <a:off x="1005840" y="3108960"/>
            <a:ext cx="3931920" cy="1188720"/>
          </a:xfrm>
          <a:prstGeom prst="rect">
            <a:avLst/>
          </a:prstGeom>
          <a:noFill/>
        </p:spPr>
        <p:txBody>
          <a:bodyPr wrap="square" anchor="t" lIns="0" rIns="0" tIns="0" bIns="0"/>
          <a:lstStyle/>
          <a:p>
            <a:pPr algn="l">
              <a:lnSpc>
                <a:spcPct val="115000"/>
              </a:lnSpc>
              <a:spcAft>
                <a:spcPts val="300"/>
              </a:spcAft>
            </a:pPr>
            <a:r>
              <a:rPr sz="1600" b="0">
                <a:solidFill>
                  <a:srgbClr val="1F2D33"/>
                </a:solidFill>
                <a:latin typeface="IPAPGothic"/>
                <a:ea typeface="IPAPGothic"/>
                <a:cs typeface="IPAPGothic"/>
              </a:rPr>
              <a:t>9:30〜11:30 田中 さくら様</a:t>
            </a:r>
          </a:p>
          <a:p>
            <a:pPr algn="l">
              <a:lnSpc>
                <a:spcPct val="115000"/>
              </a:lnSpc>
              <a:spcAft>
                <a:spcPts val="300"/>
              </a:spcAft>
            </a:pPr>
            <a:r>
              <a:rPr sz="1600" b="0">
                <a:solidFill>
                  <a:srgbClr val="1F2D33"/>
                </a:solidFill>
                <a:latin typeface="IPAPGothic"/>
                <a:ea typeface="IPAPGothic"/>
                <a:cs typeface="IPAPGothic"/>
              </a:rPr>
              <a:t>13:00〜15:00 山田 花子様</a:t>
            </a:r>
          </a:p>
          <a:p>
            <a:pPr algn="l">
              <a:lnSpc>
                <a:spcPct val="115000"/>
              </a:lnSpc>
              <a:spcAft>
                <a:spcPts val="300"/>
              </a:spcAft>
            </a:pPr>
            <a:r>
              <a:rPr sz="1600" b="0">
                <a:solidFill>
                  <a:srgbClr val="1F2D33"/>
                </a:solidFill>
                <a:latin typeface="IPAPGothic"/>
                <a:ea typeface="IPAPGothic"/>
                <a:cs typeface="IPAPGothic"/>
              </a:rPr>
              <a:t>16:00〜18:00 佐藤 ひなた様</a:t>
            </a:r>
          </a:p>
        </p:txBody>
      </p:sp>
      <p:sp>
        <p:nvSpPr>
          <p:cNvPr id="12" name="TextBox 11"/>
          <p:cNvSpPr txBox="1"/>
          <p:nvPr/>
        </p:nvSpPr>
        <p:spPr>
          <a:xfrm>
            <a:off x="777240" y="4462272"/>
            <a:ext cx="4389120" cy="457200"/>
          </a:xfrm>
          <a:prstGeom prst="rect">
            <a:avLst/>
          </a:prstGeom>
          <a:noFill/>
        </p:spPr>
        <p:txBody>
          <a:bodyPr wrap="square" anchor="t" lIns="0" rIns="0" tIns="0" bIns="0"/>
          <a:lstStyle/>
          <a:p>
            <a:pPr algn="l">
              <a:lnSpc>
                <a:spcPct val="115000"/>
              </a:lnSpc>
              <a:spcAft>
                <a:spcPts val="600"/>
              </a:spcAft>
            </a:pPr>
            <a:r>
              <a:rPr sz="1500" b="1">
                <a:solidFill>
                  <a:srgbClr val="1F8A8A"/>
                </a:solidFill>
                <a:latin typeface="IPAPGothic"/>
                <a:ea typeface="IPAPGothic"/>
                <a:cs typeface="IPAPGothic"/>
              </a:rPr>
              <a:t>押すと、アプリで明日の予定と道順が開きます</a:t>
            </a:r>
          </a:p>
        </p:txBody>
      </p:sp>
      <p:sp>
        <p:nvSpPr>
          <p:cNvPr id="13" name="TextBox 12"/>
          <p:cNvSpPr txBox="1"/>
          <p:nvPr/>
        </p:nvSpPr>
        <p:spPr>
          <a:xfrm>
            <a:off x="5760720" y="1920240"/>
            <a:ext cx="5852160" cy="457200"/>
          </a:xfrm>
          <a:prstGeom prst="rect">
            <a:avLst/>
          </a:prstGeom>
          <a:noFill/>
        </p:spPr>
        <p:txBody>
          <a:bodyPr wrap="square" anchor="t" lIns="0" rIns="0" tIns="0" bIns="0"/>
          <a:lstStyle/>
          <a:p>
            <a:pPr algn="l">
              <a:lnSpc>
                <a:spcPct val="115000"/>
              </a:lnSpc>
              <a:spcAft>
                <a:spcPts val="600"/>
              </a:spcAft>
            </a:pPr>
            <a:r>
              <a:rPr sz="2000" b="1">
                <a:solidFill>
                  <a:srgbClr val="0E4F5C"/>
                </a:solidFill>
                <a:latin typeface="IPAPGothic"/>
                <a:ea typeface="IPAPGothic"/>
                <a:cs typeface="IPAPGothic"/>
              </a:rPr>
              <a:t>スタッフの皆さまに、はじめに一度だけ</a:t>
            </a:r>
          </a:p>
        </p:txBody>
      </p:sp>
      <p:sp>
        <p:nvSpPr>
          <p:cNvPr id="14" name="Oval 13"/>
          <p:cNvSpPr/>
          <p:nvPr/>
        </p:nvSpPr>
        <p:spPr>
          <a:xfrm>
            <a:off x="5806440" y="2542032"/>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1</a:t>
            </a:r>
          </a:p>
        </p:txBody>
      </p:sp>
      <p:sp>
        <p:nvSpPr>
          <p:cNvPr id="15" name="TextBox 14"/>
          <p:cNvSpPr txBox="1"/>
          <p:nvPr/>
        </p:nvSpPr>
        <p:spPr>
          <a:xfrm>
            <a:off x="6537960" y="2468880"/>
            <a:ext cx="5074920" cy="713232"/>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アプリの「設定」を開き、「翌日の予定を通知する」をオンにする</a:t>
            </a:r>
          </a:p>
        </p:txBody>
      </p:sp>
      <p:sp>
        <p:nvSpPr>
          <p:cNvPr id="16" name="Oval 15"/>
          <p:cNvSpPr/>
          <p:nvPr/>
        </p:nvSpPr>
        <p:spPr>
          <a:xfrm>
            <a:off x="5806440" y="3383280"/>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2</a:t>
            </a:r>
          </a:p>
        </p:txBody>
      </p:sp>
      <p:sp>
        <p:nvSpPr>
          <p:cNvPr id="17" name="TextBox 16"/>
          <p:cNvSpPr txBox="1"/>
          <p:nvPr/>
        </p:nvSpPr>
        <p:spPr>
          <a:xfrm>
            <a:off x="6537960" y="3310128"/>
            <a:ext cx="5074920" cy="713232"/>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スマホに「通知を許可しますか」と出たら「許可」を押す</a:t>
            </a:r>
          </a:p>
        </p:txBody>
      </p:sp>
      <p:sp>
        <p:nvSpPr>
          <p:cNvPr id="18" name="Oval 17"/>
          <p:cNvSpPr/>
          <p:nvPr/>
        </p:nvSpPr>
        <p:spPr>
          <a:xfrm>
            <a:off x="5806440" y="4224528"/>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3</a:t>
            </a:r>
          </a:p>
        </p:txBody>
      </p:sp>
      <p:sp>
        <p:nvSpPr>
          <p:cNvPr id="19" name="TextBox 18"/>
          <p:cNvSpPr txBox="1"/>
          <p:nvPr/>
        </p:nvSpPr>
        <p:spPr>
          <a:xfrm>
            <a:off x="6537960" y="4151376"/>
            <a:ext cx="5074920" cy="713232"/>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「テスト通知を送る」を押して、届くことを確かめる</a:t>
            </a:r>
          </a:p>
        </p:txBody>
      </p:sp>
      <p:sp>
        <p:nvSpPr>
          <p:cNvPr id="20" name="Rounded Rectangle 19"/>
          <p:cNvSpPr/>
          <p:nvPr/>
        </p:nvSpPr>
        <p:spPr>
          <a:xfrm>
            <a:off x="548640" y="5166360"/>
            <a:ext cx="11091672" cy="10058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60" y="5166360"/>
            <a:ext cx="10607040" cy="1005840"/>
          </a:xfrm>
          <a:prstGeom prst="rect">
            <a:avLst/>
          </a:prstGeom>
          <a:noFill/>
        </p:spPr>
        <p:txBody>
          <a:bodyPr wrap="square" anchor="ctr" lIns="0" rIns="0" tIns="0" bIns="0"/>
          <a:lstStyle/>
          <a:p>
            <a:pPr algn="l">
              <a:lnSpc>
                <a:spcPct val="115000"/>
              </a:lnSpc>
              <a:spcAft>
                <a:spcPts val="400"/>
              </a:spcAft>
            </a:pPr>
            <a:r>
              <a:rPr sz="1500" b="0">
                <a:solidFill>
                  <a:srgbClr val="1F2D33"/>
                </a:solidFill>
                <a:latin typeface="IPAPGothic"/>
                <a:ea typeface="IPAPGothic"/>
                <a:cs typeface="IPAPGothic"/>
              </a:rPr>
              <a:t>iPhone・iPadは、Safariの共有ボタンから「ホーム画面に追加」したアプリを開いてからオンにします。</a:t>
            </a:r>
          </a:p>
          <a:p>
            <a:pPr algn="l">
              <a:lnSpc>
                <a:spcPct val="115000"/>
              </a:lnSpc>
              <a:spcAft>
                <a:spcPts val="400"/>
              </a:spcAft>
            </a:pPr>
            <a:r>
              <a:rPr sz="1500" b="0">
                <a:solidFill>
                  <a:srgbClr val="1F2D33"/>
                </a:solidFill>
                <a:latin typeface="IPAPGothic"/>
                <a:ea typeface="IPAPGothic"/>
                <a:cs typeface="IPAPGothic"/>
              </a:rPr>
              <a:t>お知らせには住所や電話番号は出しません。スマホや機種を変えたときは、その端末でもう一度オンにします。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何が加わるか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新しく加わること② 管理者の方の画面</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9 / 23</a:t>
            </a:r>
          </a:p>
        </p:txBody>
      </p:sp>
      <p:sp>
        <p:nvSpPr>
          <p:cNvPr id="6" name="Rounded Rectangle 5"/>
          <p:cNvSpPr/>
          <p:nvPr/>
        </p:nvSpPr>
        <p:spPr>
          <a:xfrm>
            <a:off x="548640" y="1325880"/>
            <a:ext cx="11091672" cy="868680"/>
          </a:xfrm>
          <a:prstGeom prst="roundRect">
            <a:avLst>
              <a:gd name="adj" fmla="val 8000"/>
            </a:avLst>
          </a:prstGeom>
          <a:solidFill>
            <a:srgbClr val="D3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325880"/>
            <a:ext cx="10607040" cy="868680"/>
          </a:xfrm>
          <a:prstGeom prst="rect">
            <a:avLst/>
          </a:prstGeom>
          <a:noFill/>
        </p:spPr>
        <p:txBody>
          <a:bodyPr wrap="square" anchor="ctr" lIns="0" rIns="0" tIns="0" bIns="0"/>
          <a:lstStyle/>
          <a:p>
            <a:pPr algn="l">
              <a:lnSpc>
                <a:spcPct val="115000"/>
              </a:lnSpc>
              <a:spcAft>
                <a:spcPts val="600"/>
              </a:spcAft>
            </a:pPr>
            <a:r>
              <a:rPr sz="1900" b="1">
                <a:solidFill>
                  <a:srgbClr val="0E4F5C"/>
                </a:solidFill>
                <a:latin typeface="IPAPGothic"/>
                <a:ea typeface="IPAPGothic"/>
                <a:cs typeface="IPAPGothic"/>
              </a:rPr>
              <a:t>今シートを直接直している管理の作業は、アプリの「管理」の画面で行います（管理者の方だけ）</a:t>
            </a:r>
          </a:p>
        </p:txBody>
      </p:sp>
      <p:sp>
        <p:nvSpPr>
          <p:cNvPr id="8" name="Rounded Rectangle 7"/>
          <p:cNvSpPr/>
          <p:nvPr/>
        </p:nvSpPr>
        <p:spPr>
          <a:xfrm>
            <a:off x="548640" y="2423160"/>
            <a:ext cx="3520440" cy="3246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65176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人</a:t>
            </a:r>
          </a:p>
        </p:txBody>
      </p:sp>
      <p:sp>
        <p:nvSpPr>
          <p:cNvPr id="10" name="TextBox 9"/>
          <p:cNvSpPr txBox="1"/>
          <p:nvPr/>
        </p:nvSpPr>
        <p:spPr>
          <a:xfrm>
            <a:off x="1691640" y="2651760"/>
            <a:ext cx="2286000" cy="68580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スタッフの管理</a:t>
            </a:r>
          </a:p>
        </p:txBody>
      </p:sp>
      <p:sp>
        <p:nvSpPr>
          <p:cNvPr id="11" name="TextBox 10"/>
          <p:cNvSpPr txBox="1"/>
          <p:nvPr/>
        </p:nvSpPr>
        <p:spPr>
          <a:xfrm>
            <a:off x="822959" y="3520440"/>
            <a:ext cx="3063240" cy="2103120"/>
          </a:xfrm>
          <a:prstGeom prst="rect">
            <a:avLst/>
          </a:prstGeom>
          <a:noFill/>
        </p:spPr>
        <p:txBody>
          <a:bodyPr wrap="square" anchor="t" lIns="0" rIns="0" tIns="0" bIns="0"/>
          <a:lstStyle/>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登録・変更・退職日の設定</a:t>
            </a:r>
          </a:p>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自宅住所・予定のカレンダーもここで</a:t>
            </a:r>
          </a:p>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初めてのパスワードは案内メールで（管理者はパスワードを知りません）</a:t>
            </a:r>
          </a:p>
        </p:txBody>
      </p:sp>
      <p:sp>
        <p:nvSpPr>
          <p:cNvPr id="12" name="Rounded Rectangle 11"/>
          <p:cNvSpPr/>
          <p:nvPr/>
        </p:nvSpPr>
        <p:spPr>
          <a:xfrm>
            <a:off x="4297679" y="2423160"/>
            <a:ext cx="3520440" cy="3246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71999" y="265176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IPAPGothic"/>
                <a:ea typeface="IPAPGothic"/>
                <a:cs typeface="IPAPGothic"/>
              </a:rPr>
              <a:t>AI</a:t>
            </a:r>
          </a:p>
        </p:txBody>
      </p:sp>
      <p:sp>
        <p:nvSpPr>
          <p:cNvPr id="14" name="TextBox 13"/>
          <p:cNvSpPr txBox="1"/>
          <p:nvPr/>
        </p:nvSpPr>
        <p:spPr>
          <a:xfrm>
            <a:off x="5440679" y="2651760"/>
            <a:ext cx="2286000" cy="68580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AIへの指示</a:t>
            </a:r>
          </a:p>
        </p:txBody>
      </p:sp>
      <p:sp>
        <p:nvSpPr>
          <p:cNvPr id="15" name="TextBox 14"/>
          <p:cNvSpPr txBox="1"/>
          <p:nvPr/>
        </p:nvSpPr>
        <p:spPr>
          <a:xfrm>
            <a:off x="4571999" y="3520440"/>
            <a:ext cx="3063240" cy="2103120"/>
          </a:xfrm>
          <a:prstGeom prst="rect">
            <a:avLst/>
          </a:prstGeom>
          <a:noFill/>
        </p:spPr>
        <p:txBody>
          <a:bodyPr wrap="square" anchor="t" lIns="0" rIns="0" tIns="0" bIns="0"/>
          <a:lstStyle/>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日報・事故報告の下書きの指示と、入力欄の例を直せる</a:t>
            </a:r>
          </a:p>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いつでも最初の文に戻せる</a:t>
            </a:r>
          </a:p>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2人が同時に直しても、知らないうちに上書きしない</a:t>
            </a:r>
          </a:p>
        </p:txBody>
      </p:sp>
      <p:sp>
        <p:nvSpPr>
          <p:cNvPr id="16" name="Rounded Rectangle 15"/>
          <p:cNvSpPr/>
          <p:nvPr/>
        </p:nvSpPr>
        <p:spPr>
          <a:xfrm>
            <a:off x="8046719" y="2423160"/>
            <a:ext cx="3520440" cy="3246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21040" y="2651760"/>
            <a:ext cx="685800" cy="68580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記</a:t>
            </a:r>
          </a:p>
        </p:txBody>
      </p:sp>
      <p:sp>
        <p:nvSpPr>
          <p:cNvPr id="18" name="TextBox 17"/>
          <p:cNvSpPr txBox="1"/>
          <p:nvPr/>
        </p:nvSpPr>
        <p:spPr>
          <a:xfrm>
            <a:off x="9189719" y="2651760"/>
            <a:ext cx="2286000" cy="68580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操作の記録</a:t>
            </a:r>
          </a:p>
        </p:txBody>
      </p:sp>
      <p:sp>
        <p:nvSpPr>
          <p:cNvPr id="19" name="TextBox 18"/>
          <p:cNvSpPr txBox="1"/>
          <p:nvPr/>
        </p:nvSpPr>
        <p:spPr>
          <a:xfrm>
            <a:off x="8321040" y="3520440"/>
            <a:ext cx="3063240" cy="2103120"/>
          </a:xfrm>
          <a:prstGeom prst="rect">
            <a:avLst/>
          </a:prstGeom>
          <a:noFill/>
        </p:spPr>
        <p:txBody>
          <a:bodyPr wrap="square" anchor="t" lIns="0" rIns="0" tIns="0" bIns="0"/>
          <a:lstStyle/>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誰がいつ何をしたかを、期間・スタッフで絞って見る</a:t>
            </a:r>
          </a:p>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CSVで保存できる</a:t>
            </a:r>
          </a:p>
          <a:p>
            <a:pPr algn="l">
              <a:lnSpc>
                <a:spcPct val="120000"/>
              </a:lnSpc>
              <a:spcAft>
                <a:spcPts val="800"/>
              </a:spcAft>
            </a:pPr>
            <a:r>
              <a:rPr sz="1200" b="0">
                <a:solidFill>
                  <a:srgbClr val="1F8A8A"/>
                </a:solidFill>
                <a:latin typeface="IPAPGothic"/>
                <a:ea typeface="IPAPGothic"/>
                <a:cs typeface="IPAPGothic"/>
              </a:rPr>
              <a:t>● </a:t>
            </a:r>
            <a:r>
              <a:rPr sz="1600" b="0">
                <a:solidFill>
                  <a:srgbClr val="1F2D33"/>
                </a:solidFill>
                <a:latin typeface="IPAPGothic"/>
                <a:ea typeface="IPAPGothic"/>
                <a:cs typeface="IPAPGothic"/>
              </a:rPr>
              <a:t>記録を見たこと自体も残ります</a:t>
            </a:r>
          </a:p>
        </p:txBody>
      </p:sp>
      <p:sp>
        <p:nvSpPr>
          <p:cNvPr id="20" name="TextBox 19"/>
          <p:cNvSpPr txBox="1"/>
          <p:nvPr/>
        </p:nvSpPr>
        <p:spPr>
          <a:xfrm>
            <a:off x="548640" y="5852160"/>
            <a:ext cx="11064240" cy="365760"/>
          </a:xfrm>
          <a:prstGeom prst="rect">
            <a:avLst/>
          </a:prstGeom>
          <a:noFill/>
        </p:spPr>
        <p:txBody>
          <a:bodyPr wrap="square" anchor="t" lIns="0" rIns="0" tIns="0" bIns="0"/>
          <a:lstStyle/>
          <a:p>
            <a:pPr algn="l">
              <a:lnSpc>
                <a:spcPct val="115000"/>
              </a:lnSpc>
              <a:spcAft>
                <a:spcPts val="600"/>
              </a:spcAft>
            </a:pPr>
            <a:r>
              <a:rPr sz="1400" b="0">
                <a:solidFill>
                  <a:srgbClr val="5B6B70"/>
                </a:solidFill>
                <a:latin typeface="IPAPGothic"/>
                <a:ea typeface="IPAPGothic"/>
                <a:cs typeface="IPAPGothic"/>
              </a:rPr>
              <a:t>※ シートは見るだけの写しになります（シートで直してもアプリには入りません）。お客様の情報は今までどおり顧客CSVで更新します。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何が良くなるか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良くなること① 速さと安定性</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10 / 23</a:t>
            </a:r>
          </a:p>
        </p:txBody>
      </p:sp>
      <p:sp>
        <p:nvSpPr>
          <p:cNvPr id="6" name="Oval 5"/>
          <p:cNvSpPr/>
          <p:nvPr/>
        </p:nvSpPr>
        <p:spPr>
          <a:xfrm>
            <a:off x="640080" y="1389888"/>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速</a:t>
            </a:r>
          </a:p>
        </p:txBody>
      </p:sp>
      <p:sp>
        <p:nvSpPr>
          <p:cNvPr id="7" name="TextBox 6"/>
          <p:cNvSpPr txBox="1"/>
          <p:nvPr/>
        </p:nvSpPr>
        <p:spPr>
          <a:xfrm>
            <a:off x="1600200" y="1280160"/>
            <a:ext cx="3017520" cy="96012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待ち時間を短く</a:t>
            </a:r>
          </a:p>
        </p:txBody>
      </p:sp>
      <p:sp>
        <p:nvSpPr>
          <p:cNvPr id="8" name="TextBox 7"/>
          <p:cNvSpPr txBox="1"/>
          <p:nvPr/>
        </p:nvSpPr>
        <p:spPr>
          <a:xfrm>
            <a:off x="4572000" y="1280160"/>
            <a:ext cx="7040880" cy="960120"/>
          </a:xfrm>
          <a:prstGeom prst="rect">
            <a:avLst/>
          </a:prstGeom>
          <a:noFill/>
        </p:spPr>
        <p:txBody>
          <a:bodyPr wrap="square" anchor="ctr" lIns="0" rIns="0" tIns="0" bIns="0"/>
          <a:lstStyle/>
          <a:p>
            <a:pPr algn="l">
              <a:lnSpc>
                <a:spcPct val="120000"/>
              </a:lnSpc>
              <a:spcAft>
                <a:spcPts val="600"/>
              </a:spcAft>
            </a:pPr>
            <a:r>
              <a:rPr sz="1800" b="0">
                <a:solidFill>
                  <a:srgbClr val="1F2D33"/>
                </a:solidFill>
                <a:latin typeface="IPAPGothic"/>
                <a:ea typeface="IPAPGothic"/>
                <a:cs typeface="IPAPGothic"/>
              </a:rPr>
              <a:t>記録はデータベースから直接読むので、スプレッドシートを開く待ち時間がなくなります（本番での体感は切替前に確認します）</a:t>
            </a:r>
          </a:p>
        </p:txBody>
      </p:sp>
      <p:sp>
        <p:nvSpPr>
          <p:cNvPr id="9" name="Oval 8"/>
          <p:cNvSpPr/>
          <p:nvPr/>
        </p:nvSpPr>
        <p:spPr>
          <a:xfrm>
            <a:off x="640080" y="2487168"/>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増</a:t>
            </a:r>
          </a:p>
        </p:txBody>
      </p:sp>
      <p:sp>
        <p:nvSpPr>
          <p:cNvPr id="10" name="TextBox 9"/>
          <p:cNvSpPr txBox="1"/>
          <p:nvPr/>
        </p:nvSpPr>
        <p:spPr>
          <a:xfrm>
            <a:off x="1600200" y="2377439"/>
            <a:ext cx="3017520" cy="96012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混んでも落ち着いて</a:t>
            </a:r>
          </a:p>
        </p:txBody>
      </p:sp>
      <p:sp>
        <p:nvSpPr>
          <p:cNvPr id="11" name="TextBox 10"/>
          <p:cNvSpPr txBox="1"/>
          <p:nvPr/>
        </p:nvSpPr>
        <p:spPr>
          <a:xfrm>
            <a:off x="4572000" y="2377439"/>
            <a:ext cx="7040880" cy="960120"/>
          </a:xfrm>
          <a:prstGeom prst="rect">
            <a:avLst/>
          </a:prstGeom>
          <a:noFill/>
        </p:spPr>
        <p:txBody>
          <a:bodyPr wrap="square" anchor="ctr" lIns="0" rIns="0" tIns="0" bIns="0"/>
          <a:lstStyle/>
          <a:p>
            <a:pPr algn="l">
              <a:lnSpc>
                <a:spcPct val="120000"/>
              </a:lnSpc>
              <a:spcAft>
                <a:spcPts val="600"/>
              </a:spcAft>
            </a:pPr>
            <a:r>
              <a:rPr sz="1800" b="0">
                <a:solidFill>
                  <a:srgbClr val="1F2D33"/>
                </a:solidFill>
                <a:latin typeface="IPAPGothic"/>
                <a:ea typeface="IPAPGothic"/>
                <a:cs typeface="IPAPGothic"/>
              </a:rPr>
              <a:t>使う人が多い時間は、自動でサーバーの台数を増やして対応します</a:t>
            </a:r>
          </a:p>
        </p:txBody>
      </p:sp>
      <p:sp>
        <p:nvSpPr>
          <p:cNvPr id="12" name="Oval 11"/>
          <p:cNvSpPr/>
          <p:nvPr/>
        </p:nvSpPr>
        <p:spPr>
          <a:xfrm>
            <a:off x="640080" y="3584448"/>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6</a:t>
            </a:r>
          </a:p>
        </p:txBody>
      </p:sp>
      <p:sp>
        <p:nvSpPr>
          <p:cNvPr id="13" name="TextBox 12"/>
          <p:cNvSpPr txBox="1"/>
          <p:nvPr/>
        </p:nvSpPr>
        <p:spPr>
          <a:xfrm>
            <a:off x="1600200" y="3474720"/>
            <a:ext cx="3017520" cy="96012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6分の上限がなくなる</a:t>
            </a:r>
          </a:p>
        </p:txBody>
      </p:sp>
      <p:sp>
        <p:nvSpPr>
          <p:cNvPr id="14" name="TextBox 13"/>
          <p:cNvSpPr txBox="1"/>
          <p:nvPr/>
        </p:nvSpPr>
        <p:spPr>
          <a:xfrm>
            <a:off x="4572000" y="3474720"/>
            <a:ext cx="7040880" cy="960120"/>
          </a:xfrm>
          <a:prstGeom prst="rect">
            <a:avLst/>
          </a:prstGeom>
          <a:noFill/>
        </p:spPr>
        <p:txBody>
          <a:bodyPr wrap="square" anchor="ctr" lIns="0" rIns="0" tIns="0" bIns="0"/>
          <a:lstStyle/>
          <a:p>
            <a:pPr algn="l">
              <a:lnSpc>
                <a:spcPct val="120000"/>
              </a:lnSpc>
              <a:spcAft>
                <a:spcPts val="600"/>
              </a:spcAft>
            </a:pPr>
            <a:r>
              <a:rPr sz="1800" b="0">
                <a:solidFill>
                  <a:srgbClr val="1F2D33"/>
                </a:solidFill>
                <a:latin typeface="IPAPGothic"/>
                <a:ea typeface="IPAPGothic"/>
                <a:cs typeface="IPAPGothic"/>
              </a:rPr>
              <a:t>夜のまとめ処理はGoogle Apps Scriptの6分の決まりに縛られません。スタッフが増えても安心です</a:t>
            </a:r>
          </a:p>
        </p:txBody>
      </p:sp>
      <p:sp>
        <p:nvSpPr>
          <p:cNvPr id="15" name="Oval 14"/>
          <p:cNvSpPr/>
          <p:nvPr/>
        </p:nvSpPr>
        <p:spPr>
          <a:xfrm>
            <a:off x="640080" y="4681728"/>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見</a:t>
            </a:r>
          </a:p>
        </p:txBody>
      </p:sp>
      <p:sp>
        <p:nvSpPr>
          <p:cNvPr id="16" name="TextBox 15"/>
          <p:cNvSpPr txBox="1"/>
          <p:nvPr/>
        </p:nvSpPr>
        <p:spPr>
          <a:xfrm>
            <a:off x="1600200" y="4572000"/>
            <a:ext cx="3017520" cy="96012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見張りとお知らせ</a:t>
            </a:r>
          </a:p>
        </p:txBody>
      </p:sp>
      <p:sp>
        <p:nvSpPr>
          <p:cNvPr id="17" name="TextBox 16"/>
          <p:cNvSpPr txBox="1"/>
          <p:nvPr/>
        </p:nvSpPr>
        <p:spPr>
          <a:xfrm>
            <a:off x="4572000" y="4572000"/>
            <a:ext cx="7040880" cy="960120"/>
          </a:xfrm>
          <a:prstGeom prst="rect">
            <a:avLst/>
          </a:prstGeom>
          <a:noFill/>
        </p:spPr>
        <p:txBody>
          <a:bodyPr wrap="square" anchor="ctr" lIns="0" rIns="0" tIns="0" bIns="0"/>
          <a:lstStyle/>
          <a:p>
            <a:pPr algn="l">
              <a:lnSpc>
                <a:spcPct val="120000"/>
              </a:lnSpc>
              <a:spcAft>
                <a:spcPts val="600"/>
              </a:spcAft>
            </a:pPr>
            <a:r>
              <a:rPr sz="1800" b="0">
                <a:solidFill>
                  <a:srgbClr val="1F2D33"/>
                </a:solidFill>
                <a:latin typeface="IPAPGothic"/>
                <a:ea typeface="IPAPGothic"/>
                <a:cs typeface="IPAPGothic"/>
              </a:rPr>
              <a:t>外から定期的に動作を確かめ、異常があれば担当者にメールで知らせる仕組みを用意しています</a:t>
            </a:r>
          </a:p>
        </p:txBody>
      </p:sp>
      <p:sp>
        <p:nvSpPr>
          <p:cNvPr id="18" name="TextBox 17"/>
          <p:cNvSpPr txBox="1"/>
          <p:nvPr/>
        </p:nvSpPr>
        <p:spPr>
          <a:xfrm>
            <a:off x="548640" y="5806440"/>
            <a:ext cx="1106424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例）朝、出勤前に「今日の予定」を開くとき/夕方に日報をまとめて保存するとき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何が良くなるか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良くなること② データの安全</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11 / 23</a:t>
            </a:r>
          </a:p>
        </p:txBody>
      </p:sp>
      <p:sp>
        <p:nvSpPr>
          <p:cNvPr id="6" name="Rounded Rectangle 5"/>
          <p:cNvSpPr/>
          <p:nvPr/>
        </p:nvSpPr>
        <p:spPr>
          <a:xfrm>
            <a:off x="548640" y="1371600"/>
            <a:ext cx="11045952" cy="1536192"/>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773936"/>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鍵</a:t>
            </a:r>
          </a:p>
        </p:txBody>
      </p:sp>
      <p:sp>
        <p:nvSpPr>
          <p:cNvPr id="8" name="TextBox 7"/>
          <p:cNvSpPr txBox="1"/>
          <p:nvPr/>
        </p:nvSpPr>
        <p:spPr>
          <a:xfrm>
            <a:off x="1691640" y="1481328"/>
            <a:ext cx="9720072" cy="457200"/>
          </a:xfrm>
          <a:prstGeom prst="rect">
            <a:avLst/>
          </a:prstGeom>
          <a:noFill/>
        </p:spPr>
        <p:txBody>
          <a:bodyPr wrap="square" anchor="t" lIns="0" rIns="0" tIns="0" bIns="0"/>
          <a:lstStyle/>
          <a:p>
            <a:pPr algn="l">
              <a:lnSpc>
                <a:spcPct val="115000"/>
              </a:lnSpc>
              <a:spcAft>
                <a:spcPts val="600"/>
              </a:spcAft>
            </a:pPr>
            <a:r>
              <a:rPr sz="2000" b="1">
                <a:solidFill>
                  <a:srgbClr val="0E4F5C"/>
                </a:solidFill>
                <a:latin typeface="IPAPGothic"/>
                <a:ea typeface="IPAPGothic"/>
                <a:cs typeface="IPAPGothic"/>
              </a:rPr>
              <a:t>データは保管場所ごと、このアプリ専用の鍵で暗号化</a:t>
            </a:r>
          </a:p>
        </p:txBody>
      </p:sp>
      <p:sp>
        <p:nvSpPr>
          <p:cNvPr id="9" name="TextBox 8"/>
          <p:cNvSpPr txBox="1"/>
          <p:nvPr/>
        </p:nvSpPr>
        <p:spPr>
          <a:xfrm>
            <a:off x="1691640" y="1938528"/>
            <a:ext cx="9720072" cy="896112"/>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データベースとそのバックアップ、領収書の画像を丸ごと暗号化します(Google Cloudの保存データの暗号化。鍵はGoogle Cloudの鍵管理サービスで厳重に管理）。医療機関向けの国のガイドライン(3省2ガイドライン）でも一般的な保護の水準です</a:t>
            </a:r>
          </a:p>
        </p:txBody>
      </p:sp>
      <p:sp>
        <p:nvSpPr>
          <p:cNvPr id="10" name="Rounded Rectangle 9"/>
          <p:cNvSpPr/>
          <p:nvPr/>
        </p:nvSpPr>
        <p:spPr>
          <a:xfrm>
            <a:off x="548640" y="3044952"/>
            <a:ext cx="5440680" cy="1517904"/>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77240" y="3438144"/>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分</a:t>
            </a:r>
          </a:p>
        </p:txBody>
      </p:sp>
      <p:sp>
        <p:nvSpPr>
          <p:cNvPr id="12" name="TextBox 11"/>
          <p:cNvSpPr txBox="1"/>
          <p:nvPr/>
        </p:nvSpPr>
        <p:spPr>
          <a:xfrm>
            <a:off x="1691640" y="3154680"/>
            <a:ext cx="4114800" cy="457200"/>
          </a:xfrm>
          <a:prstGeom prst="rect">
            <a:avLst/>
          </a:prstGeom>
          <a:noFill/>
        </p:spPr>
        <p:txBody>
          <a:bodyPr wrap="square" anchor="t" lIns="0" rIns="0" tIns="0" bIns="0"/>
          <a:lstStyle/>
          <a:p>
            <a:pPr algn="l">
              <a:lnSpc>
                <a:spcPct val="115000"/>
              </a:lnSpc>
              <a:spcAft>
                <a:spcPts val="600"/>
              </a:spcAft>
            </a:pPr>
            <a:r>
              <a:rPr sz="2000" b="1">
                <a:solidFill>
                  <a:srgbClr val="0E4F5C"/>
                </a:solidFill>
                <a:latin typeface="IPAPGothic"/>
                <a:ea typeface="IPAPGothic"/>
                <a:cs typeface="IPAPGothic"/>
              </a:rPr>
              <a:t>会社ごとにデータを分離</a:t>
            </a:r>
          </a:p>
        </p:txBody>
      </p:sp>
      <p:sp>
        <p:nvSpPr>
          <p:cNvPr id="13" name="TextBox 12"/>
          <p:cNvSpPr txBox="1"/>
          <p:nvPr/>
        </p:nvSpPr>
        <p:spPr>
          <a:xfrm>
            <a:off x="1691640" y="3611880"/>
            <a:ext cx="4114800" cy="877824"/>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仕組みの一番下で会社ごとに区切るので、他の会社のデータは見えず、触れません</a:t>
            </a:r>
          </a:p>
        </p:txBody>
      </p:sp>
      <p:sp>
        <p:nvSpPr>
          <p:cNvPr id="14" name="Rounded Rectangle 13"/>
          <p:cNvSpPr/>
          <p:nvPr/>
        </p:nvSpPr>
        <p:spPr>
          <a:xfrm>
            <a:off x="6153912" y="3044952"/>
            <a:ext cx="5440680" cy="1517904"/>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82512" y="3438144"/>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人</a:t>
            </a:r>
          </a:p>
        </p:txBody>
      </p:sp>
      <p:sp>
        <p:nvSpPr>
          <p:cNvPr id="16" name="TextBox 15"/>
          <p:cNvSpPr txBox="1"/>
          <p:nvPr/>
        </p:nvSpPr>
        <p:spPr>
          <a:xfrm>
            <a:off x="7296912" y="3154680"/>
            <a:ext cx="4114800" cy="457200"/>
          </a:xfrm>
          <a:prstGeom prst="rect">
            <a:avLst/>
          </a:prstGeom>
          <a:noFill/>
        </p:spPr>
        <p:txBody>
          <a:bodyPr wrap="square" anchor="t" lIns="0" rIns="0" tIns="0" bIns="0"/>
          <a:lstStyle/>
          <a:p>
            <a:pPr algn="l">
              <a:lnSpc>
                <a:spcPct val="115000"/>
              </a:lnSpc>
              <a:spcAft>
                <a:spcPts val="600"/>
              </a:spcAft>
            </a:pPr>
            <a:r>
              <a:rPr sz="2000" b="1">
                <a:solidFill>
                  <a:srgbClr val="0E4F5C"/>
                </a:solidFill>
                <a:latin typeface="IPAPGothic"/>
                <a:ea typeface="IPAPGothic"/>
                <a:cs typeface="IPAPGothic"/>
              </a:rPr>
              <a:t>できることを役割で分ける</a:t>
            </a:r>
          </a:p>
        </p:txBody>
      </p:sp>
      <p:sp>
        <p:nvSpPr>
          <p:cNvPr id="17" name="TextBox 16"/>
          <p:cNvSpPr txBox="1"/>
          <p:nvPr/>
        </p:nvSpPr>
        <p:spPr>
          <a:xfrm>
            <a:off x="7296912" y="3611880"/>
            <a:ext cx="4114800" cy="877824"/>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スタッフが見て直せるのは自分の予定・出勤簿だけ。他の人の日報は上書きできません。管理の画面は管理者だけ</a:t>
            </a:r>
          </a:p>
        </p:txBody>
      </p:sp>
      <p:sp>
        <p:nvSpPr>
          <p:cNvPr id="18" name="Rounded Rectangle 17"/>
          <p:cNvSpPr/>
          <p:nvPr/>
        </p:nvSpPr>
        <p:spPr>
          <a:xfrm>
            <a:off x="548640" y="4636008"/>
            <a:ext cx="5440680" cy="1517904"/>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5029200"/>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記</a:t>
            </a:r>
          </a:p>
        </p:txBody>
      </p:sp>
      <p:sp>
        <p:nvSpPr>
          <p:cNvPr id="20" name="TextBox 19"/>
          <p:cNvSpPr txBox="1"/>
          <p:nvPr/>
        </p:nvSpPr>
        <p:spPr>
          <a:xfrm>
            <a:off x="1691640" y="4745736"/>
            <a:ext cx="4114800" cy="457200"/>
          </a:xfrm>
          <a:prstGeom prst="rect">
            <a:avLst/>
          </a:prstGeom>
          <a:noFill/>
        </p:spPr>
        <p:txBody>
          <a:bodyPr wrap="square" anchor="t" lIns="0" rIns="0" tIns="0" bIns="0"/>
          <a:lstStyle/>
          <a:p>
            <a:pPr algn="l">
              <a:lnSpc>
                <a:spcPct val="115000"/>
              </a:lnSpc>
              <a:spcAft>
                <a:spcPts val="600"/>
              </a:spcAft>
            </a:pPr>
            <a:r>
              <a:rPr sz="2000" b="1">
                <a:solidFill>
                  <a:srgbClr val="0E4F5C"/>
                </a:solidFill>
                <a:latin typeface="IPAPGothic"/>
                <a:ea typeface="IPAPGothic"/>
                <a:cs typeface="IPAPGothic"/>
              </a:rPr>
              <a:t>開いた人・変えた内容を記録</a:t>
            </a:r>
          </a:p>
        </p:txBody>
      </p:sp>
      <p:sp>
        <p:nvSpPr>
          <p:cNvPr id="21" name="TextBox 20"/>
          <p:cNvSpPr txBox="1"/>
          <p:nvPr/>
        </p:nvSpPr>
        <p:spPr>
          <a:xfrm>
            <a:off x="1691640" y="5202936"/>
            <a:ext cx="4114800" cy="877824"/>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お客様の情報を誰がいつ開いたか、誰が何を変えたかを残します。日報を書き直しても、前の内容が履歴に残ります</a:t>
            </a:r>
          </a:p>
        </p:txBody>
      </p:sp>
      <p:sp>
        <p:nvSpPr>
          <p:cNvPr id="22" name="Rounded Rectangle 21"/>
          <p:cNvSpPr/>
          <p:nvPr/>
        </p:nvSpPr>
        <p:spPr>
          <a:xfrm>
            <a:off x="6153912" y="4636008"/>
            <a:ext cx="5440680" cy="1517904"/>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82512" y="5029200"/>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P</a:t>
            </a:r>
          </a:p>
        </p:txBody>
      </p:sp>
      <p:sp>
        <p:nvSpPr>
          <p:cNvPr id="24" name="TextBox 23"/>
          <p:cNvSpPr txBox="1"/>
          <p:nvPr/>
        </p:nvSpPr>
        <p:spPr>
          <a:xfrm>
            <a:off x="7296912" y="4745736"/>
            <a:ext cx="4114800" cy="457200"/>
          </a:xfrm>
          <a:prstGeom prst="rect">
            <a:avLst/>
          </a:prstGeom>
          <a:noFill/>
        </p:spPr>
        <p:txBody>
          <a:bodyPr wrap="square" anchor="t" lIns="0" rIns="0" tIns="0" bIns="0"/>
          <a:lstStyle/>
          <a:p>
            <a:pPr algn="l">
              <a:lnSpc>
                <a:spcPct val="115000"/>
              </a:lnSpc>
              <a:spcAft>
                <a:spcPts val="600"/>
              </a:spcAft>
            </a:pPr>
            <a:r>
              <a:rPr sz="2000" b="1">
                <a:solidFill>
                  <a:srgbClr val="0E4F5C"/>
                </a:solidFill>
                <a:latin typeface="IPAPGothic"/>
                <a:ea typeface="IPAPGothic"/>
                <a:cs typeface="IPAPGothic"/>
              </a:rPr>
              <a:t>ログインの回数を制限</a:t>
            </a:r>
          </a:p>
        </p:txBody>
      </p:sp>
      <p:sp>
        <p:nvSpPr>
          <p:cNvPr id="25" name="TextBox 24"/>
          <p:cNvSpPr txBox="1"/>
          <p:nvPr/>
        </p:nvSpPr>
        <p:spPr>
          <a:xfrm>
            <a:off x="7296912" y="5202936"/>
            <a:ext cx="4114800" cy="877824"/>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続けて間違えると一時的にロック。いつも使う端末は、他の人の試行で締め出されません。パスワードは安全な方式で保存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何が良くなるか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良くなること③ 記録の正確さ</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12 / 23</a:t>
            </a:r>
          </a:p>
        </p:txBody>
      </p:sp>
      <p:sp>
        <p:nvSpPr>
          <p:cNvPr id="6" name="Rounded Rectangle 5"/>
          <p:cNvSpPr/>
          <p:nvPr/>
        </p:nvSpPr>
        <p:spPr>
          <a:xfrm>
            <a:off x="548640" y="1325880"/>
            <a:ext cx="11091672" cy="84124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31520" y="1472184"/>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a:t>
            </a:r>
          </a:p>
        </p:txBody>
      </p:sp>
      <p:sp>
        <p:nvSpPr>
          <p:cNvPr id="8" name="TextBox 7"/>
          <p:cNvSpPr txBox="1"/>
          <p:nvPr/>
        </p:nvSpPr>
        <p:spPr>
          <a:xfrm>
            <a:off x="1463040" y="1325880"/>
            <a:ext cx="3108960" cy="841248"/>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同時に直しても安心</a:t>
            </a:r>
          </a:p>
        </p:txBody>
      </p:sp>
      <p:sp>
        <p:nvSpPr>
          <p:cNvPr id="9" name="TextBox 8"/>
          <p:cNvSpPr txBox="1"/>
          <p:nvPr/>
        </p:nvSpPr>
        <p:spPr>
          <a:xfrm>
            <a:off x="4572000" y="1325880"/>
            <a:ext cx="6903720" cy="841248"/>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2人が同じ記録を同時に直すと、後の人に「読み込み直してからもう一度」とお知らせ。知らないうちの上書きを防ぎます</a:t>
            </a:r>
          </a:p>
        </p:txBody>
      </p:sp>
      <p:sp>
        <p:nvSpPr>
          <p:cNvPr id="10" name="Rounded Rectangle 9"/>
          <p:cNvSpPr/>
          <p:nvPr/>
        </p:nvSpPr>
        <p:spPr>
          <a:xfrm>
            <a:off x="548640" y="2304288"/>
            <a:ext cx="11091672" cy="841248"/>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520" y="2450592"/>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a:t>
            </a:r>
          </a:p>
        </p:txBody>
      </p:sp>
      <p:sp>
        <p:nvSpPr>
          <p:cNvPr id="12" name="TextBox 11"/>
          <p:cNvSpPr txBox="1"/>
          <p:nvPr/>
        </p:nvSpPr>
        <p:spPr>
          <a:xfrm>
            <a:off x="1463040" y="2304288"/>
            <a:ext cx="3108960" cy="841248"/>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月の締めを守る</a:t>
            </a:r>
          </a:p>
        </p:txBody>
      </p:sp>
      <p:sp>
        <p:nvSpPr>
          <p:cNvPr id="13" name="TextBox 12"/>
          <p:cNvSpPr txBox="1"/>
          <p:nvPr/>
        </p:nvSpPr>
        <p:spPr>
          <a:xfrm>
            <a:off x="4572000" y="2304288"/>
            <a:ext cx="6903720" cy="841248"/>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出勤簿を直せるのは今月分だけ（今と同じ）。締めた月は、データベースが変更を受け付けません</a:t>
            </a:r>
          </a:p>
        </p:txBody>
      </p:sp>
      <p:sp>
        <p:nvSpPr>
          <p:cNvPr id="14" name="Rounded Rectangle 13"/>
          <p:cNvSpPr/>
          <p:nvPr/>
        </p:nvSpPr>
        <p:spPr>
          <a:xfrm>
            <a:off x="548640" y="3282696"/>
            <a:ext cx="11091672" cy="84124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31520" y="3429000"/>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a:t>
            </a:r>
          </a:p>
        </p:txBody>
      </p:sp>
      <p:sp>
        <p:nvSpPr>
          <p:cNvPr id="16" name="TextBox 15"/>
          <p:cNvSpPr txBox="1"/>
          <p:nvPr/>
        </p:nvSpPr>
        <p:spPr>
          <a:xfrm>
            <a:off x="1463040" y="3282696"/>
            <a:ext cx="3108960" cy="841248"/>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二重登録を防ぐ</a:t>
            </a:r>
          </a:p>
        </p:txBody>
      </p:sp>
      <p:sp>
        <p:nvSpPr>
          <p:cNvPr id="17" name="TextBox 16"/>
          <p:cNvSpPr txBox="1"/>
          <p:nvPr/>
        </p:nvSpPr>
        <p:spPr>
          <a:xfrm>
            <a:off x="4572000" y="3282696"/>
            <a:ext cx="6903720" cy="841248"/>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同じ領収書を二度送っても一度だけ登録（今と同じ判定）。夜の処理はやり直しても二重になりません</a:t>
            </a:r>
          </a:p>
        </p:txBody>
      </p:sp>
      <p:sp>
        <p:nvSpPr>
          <p:cNvPr id="18" name="Rounded Rectangle 17"/>
          <p:cNvSpPr/>
          <p:nvPr/>
        </p:nvSpPr>
        <p:spPr>
          <a:xfrm>
            <a:off x="548640" y="4261104"/>
            <a:ext cx="11091672" cy="841248"/>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31520" y="4407408"/>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a:t>
            </a:r>
          </a:p>
        </p:txBody>
      </p:sp>
      <p:sp>
        <p:nvSpPr>
          <p:cNvPr id="20" name="TextBox 19"/>
          <p:cNvSpPr txBox="1"/>
          <p:nvPr/>
        </p:nvSpPr>
        <p:spPr>
          <a:xfrm>
            <a:off x="1463040" y="4261104"/>
            <a:ext cx="3108960" cy="841248"/>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取り込みミスで止まる</a:t>
            </a:r>
          </a:p>
        </p:txBody>
      </p:sp>
      <p:sp>
        <p:nvSpPr>
          <p:cNvPr id="21" name="TextBox 20"/>
          <p:cNvSpPr txBox="1"/>
          <p:nvPr/>
        </p:nvSpPr>
        <p:spPr>
          <a:xfrm>
            <a:off x="4572000" y="4261104"/>
            <a:ext cx="6903720" cy="841248"/>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お客様CSVで2割を超えるお客様が消えるような内容なら、取り込まずに止めて確認を待ちます</a:t>
            </a:r>
          </a:p>
        </p:txBody>
      </p:sp>
      <p:sp>
        <p:nvSpPr>
          <p:cNvPr id="22" name="Rounded Rectangle 21"/>
          <p:cNvSpPr/>
          <p:nvPr/>
        </p:nvSpPr>
        <p:spPr>
          <a:xfrm>
            <a:off x="548640" y="5239512"/>
            <a:ext cx="11091672" cy="84124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5385816"/>
            <a:ext cx="548640" cy="54864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a:t>
            </a:r>
          </a:p>
        </p:txBody>
      </p:sp>
      <p:sp>
        <p:nvSpPr>
          <p:cNvPr id="24" name="TextBox 23"/>
          <p:cNvSpPr txBox="1"/>
          <p:nvPr/>
        </p:nvSpPr>
        <p:spPr>
          <a:xfrm>
            <a:off x="1463040" y="5239512"/>
            <a:ext cx="3108960" cy="841248"/>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計算結果は今と同じ</a:t>
            </a:r>
          </a:p>
        </p:txBody>
      </p:sp>
      <p:sp>
        <p:nvSpPr>
          <p:cNvPr id="25" name="TextBox 24"/>
          <p:cNvSpPr txBox="1"/>
          <p:nvPr/>
        </p:nvSpPr>
        <p:spPr>
          <a:xfrm>
            <a:off x="4572000" y="5239512"/>
            <a:ext cx="6903720" cy="841248"/>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出勤簿や道順の計算は、今のアプリのプログラムそのものと結果を突き合わせて確かめています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何が良くなるか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良くなること④ 自動で動く処理</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13 / 23</a:t>
            </a:r>
          </a:p>
        </p:txBody>
      </p:sp>
      <p:sp>
        <p:nvSpPr>
          <p:cNvPr id="6" name="TextBox 5"/>
          <p:cNvSpPr txBox="1"/>
          <p:nvPr/>
        </p:nvSpPr>
        <p:spPr>
          <a:xfrm>
            <a:off x="548640" y="1280160"/>
            <a:ext cx="11064240" cy="457200"/>
          </a:xfrm>
          <a:prstGeom prst="rect">
            <a:avLst/>
          </a:prstGeom>
          <a:noFill/>
        </p:spPr>
        <p:txBody>
          <a:bodyPr wrap="square" anchor="t" lIns="0" rIns="0" tIns="0" bIns="0"/>
          <a:lstStyle/>
          <a:p>
            <a:pPr algn="l">
              <a:lnSpc>
                <a:spcPct val="115000"/>
              </a:lnSpc>
              <a:spcAft>
                <a:spcPts val="600"/>
              </a:spcAft>
            </a:pPr>
            <a:r>
              <a:rPr sz="1700" b="0">
                <a:solidFill>
                  <a:srgbClr val="5B6B70"/>
                </a:solidFill>
                <a:latin typeface="IPAPGothic"/>
                <a:ea typeface="IPAPGothic"/>
                <a:cs typeface="IPAPGothic"/>
              </a:rPr>
              <a:t>お客様の取り込みは10分ごとに。明日の予定のお知らせも加わります。失敗したら自動でやり直し、それでもだめならお知らせします。</a:t>
            </a:r>
          </a:p>
        </p:txBody>
      </p:sp>
      <p:cxnSp>
        <p:nvCxnSpPr>
          <p:cNvPr id="7" name="Connector 6"/>
          <p:cNvCxnSpPr/>
          <p:nvPr/>
        </p:nvCxnSpPr>
        <p:spPr>
          <a:xfrm>
            <a:off x="1097280" y="2834640"/>
            <a:ext cx="9966960" cy="0"/>
          </a:xfrm>
          <a:prstGeom prst="line">
            <a:avLst/>
          </a:prstGeom>
          <a:ln w="38100">
            <a:solidFill>
              <a:srgbClr val="7CC4C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51560" y="2286000"/>
            <a:ext cx="1097280" cy="109728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IPAPGothic"/>
                <a:ea typeface="IPAPGothic"/>
                <a:cs typeface="IPAPGothic"/>
              </a:rPr>
              <a:t>19:00</a:t>
            </a:r>
          </a:p>
        </p:txBody>
      </p:sp>
      <p:sp>
        <p:nvSpPr>
          <p:cNvPr id="9" name="Rounded Rectangle 8"/>
          <p:cNvSpPr/>
          <p:nvPr/>
        </p:nvSpPr>
        <p:spPr>
          <a:xfrm>
            <a:off x="566928" y="3657600"/>
            <a:ext cx="2066543" cy="2103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3794760"/>
            <a:ext cx="1920240" cy="502920"/>
          </a:xfrm>
          <a:prstGeom prst="rect">
            <a:avLst/>
          </a:prstGeom>
          <a:noFill/>
        </p:spPr>
        <p:txBody>
          <a:bodyPr wrap="square" anchor="t" lIns="0" rIns="0" tIns="0" bIns="0"/>
          <a:lstStyle/>
          <a:p>
            <a:pPr algn="ctr">
              <a:lnSpc>
                <a:spcPct val="115000"/>
              </a:lnSpc>
              <a:spcAft>
                <a:spcPts val="600"/>
              </a:spcAft>
            </a:pPr>
            <a:r>
              <a:rPr sz="1900" b="1">
                <a:solidFill>
                  <a:srgbClr val="0E4F5C"/>
                </a:solidFill>
                <a:latin typeface="IPAPGothic"/>
                <a:ea typeface="IPAPGothic"/>
                <a:cs typeface="IPAPGothic"/>
              </a:rPr>
              <a:t>明日の予定</a:t>
            </a:r>
          </a:p>
        </p:txBody>
      </p:sp>
      <p:sp>
        <p:nvSpPr>
          <p:cNvPr id="11" name="TextBox 10"/>
          <p:cNvSpPr txBox="1"/>
          <p:nvPr/>
        </p:nvSpPr>
        <p:spPr>
          <a:xfrm>
            <a:off x="704088" y="4343400"/>
            <a:ext cx="1792224" cy="137160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通知をオンにしたスタッフのスマホへお知らせ</a:t>
            </a:r>
          </a:p>
        </p:txBody>
      </p:sp>
      <p:sp>
        <p:nvSpPr>
          <p:cNvPr id="12" name="Oval 11"/>
          <p:cNvSpPr/>
          <p:nvPr/>
        </p:nvSpPr>
        <p:spPr>
          <a:xfrm>
            <a:off x="3291840" y="2286000"/>
            <a:ext cx="1097280" cy="109728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IPAPGothic"/>
                <a:ea typeface="IPAPGothic"/>
                <a:cs typeface="IPAPGothic"/>
              </a:rPr>
              <a:t>22:00</a:t>
            </a:r>
          </a:p>
        </p:txBody>
      </p:sp>
      <p:sp>
        <p:nvSpPr>
          <p:cNvPr id="13" name="Rounded Rectangle 12"/>
          <p:cNvSpPr/>
          <p:nvPr/>
        </p:nvSpPr>
        <p:spPr>
          <a:xfrm>
            <a:off x="2807208" y="3657600"/>
            <a:ext cx="2066543" cy="2103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880360" y="3794760"/>
            <a:ext cx="1920240" cy="502920"/>
          </a:xfrm>
          <a:prstGeom prst="rect">
            <a:avLst/>
          </a:prstGeom>
          <a:noFill/>
        </p:spPr>
        <p:txBody>
          <a:bodyPr wrap="square" anchor="t" lIns="0" rIns="0" tIns="0" bIns="0"/>
          <a:lstStyle/>
          <a:p>
            <a:pPr algn="ctr">
              <a:lnSpc>
                <a:spcPct val="115000"/>
              </a:lnSpc>
              <a:spcAft>
                <a:spcPts val="600"/>
              </a:spcAft>
            </a:pPr>
            <a:r>
              <a:rPr sz="1900" b="1">
                <a:solidFill>
                  <a:srgbClr val="0E4F5C"/>
                </a:solidFill>
                <a:latin typeface="IPAPGothic"/>
                <a:ea typeface="IPAPGothic"/>
                <a:cs typeface="IPAPGothic"/>
              </a:rPr>
              <a:t>出勤簿に反映</a:t>
            </a:r>
          </a:p>
        </p:txBody>
      </p:sp>
      <p:sp>
        <p:nvSpPr>
          <p:cNvPr id="15" name="TextBox 14"/>
          <p:cNvSpPr txBox="1"/>
          <p:nvPr/>
        </p:nvSpPr>
        <p:spPr>
          <a:xfrm>
            <a:off x="2944368" y="4343400"/>
            <a:ext cx="1792224" cy="137160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カレンダーの今日の予定を、全スタッフの出勤簿へ</a:t>
            </a:r>
          </a:p>
        </p:txBody>
      </p:sp>
      <p:sp>
        <p:nvSpPr>
          <p:cNvPr id="16" name="Oval 15"/>
          <p:cNvSpPr/>
          <p:nvPr/>
        </p:nvSpPr>
        <p:spPr>
          <a:xfrm>
            <a:off x="5532120" y="2286000"/>
            <a:ext cx="1097280" cy="109728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IPAPGothic"/>
                <a:ea typeface="IPAPGothic"/>
                <a:cs typeface="IPAPGothic"/>
              </a:rPr>
              <a:t>10分</a:t>
            </a:r>
          </a:p>
        </p:txBody>
      </p:sp>
      <p:sp>
        <p:nvSpPr>
          <p:cNvPr id="17" name="Rounded Rectangle 16"/>
          <p:cNvSpPr/>
          <p:nvPr/>
        </p:nvSpPr>
        <p:spPr>
          <a:xfrm>
            <a:off x="5047488" y="3657600"/>
            <a:ext cx="2066543" cy="2103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20640" y="3794760"/>
            <a:ext cx="1920240" cy="502920"/>
          </a:xfrm>
          <a:prstGeom prst="rect">
            <a:avLst/>
          </a:prstGeom>
          <a:noFill/>
        </p:spPr>
        <p:txBody>
          <a:bodyPr wrap="square" anchor="t" lIns="0" rIns="0" tIns="0" bIns="0"/>
          <a:lstStyle/>
          <a:p>
            <a:pPr algn="ctr">
              <a:lnSpc>
                <a:spcPct val="115000"/>
              </a:lnSpc>
              <a:spcAft>
                <a:spcPts val="600"/>
              </a:spcAft>
            </a:pPr>
            <a:r>
              <a:rPr sz="1900" b="1">
                <a:solidFill>
                  <a:srgbClr val="0E4F5C"/>
                </a:solidFill>
                <a:latin typeface="IPAPGothic"/>
                <a:ea typeface="IPAPGothic"/>
                <a:cs typeface="IPAPGothic"/>
              </a:rPr>
              <a:t>お客様を最新に</a:t>
            </a:r>
          </a:p>
        </p:txBody>
      </p:sp>
      <p:sp>
        <p:nvSpPr>
          <p:cNvPr id="19" name="TextBox 18"/>
          <p:cNvSpPr txBox="1"/>
          <p:nvPr/>
        </p:nvSpPr>
        <p:spPr>
          <a:xfrm>
            <a:off x="5184648" y="4343400"/>
            <a:ext cx="1792224" cy="137160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Googleドライブの新しい顧客CSVを10分ごとに取り込み</a:t>
            </a:r>
          </a:p>
        </p:txBody>
      </p:sp>
      <p:sp>
        <p:nvSpPr>
          <p:cNvPr id="20" name="Oval 19"/>
          <p:cNvSpPr/>
          <p:nvPr/>
        </p:nvSpPr>
        <p:spPr>
          <a:xfrm>
            <a:off x="7772400" y="2286000"/>
            <a:ext cx="1097280" cy="109728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IPAPGothic"/>
                <a:ea typeface="IPAPGothic"/>
                <a:cs typeface="IPAPGothic"/>
              </a:rPr>
              <a:t>4:00</a:t>
            </a:r>
          </a:p>
        </p:txBody>
      </p:sp>
      <p:sp>
        <p:nvSpPr>
          <p:cNvPr id="21" name="Rounded Rectangle 20"/>
          <p:cNvSpPr/>
          <p:nvPr/>
        </p:nvSpPr>
        <p:spPr>
          <a:xfrm>
            <a:off x="7287768" y="3657600"/>
            <a:ext cx="2066543" cy="2103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60920" y="3794760"/>
            <a:ext cx="1920240" cy="502920"/>
          </a:xfrm>
          <a:prstGeom prst="rect">
            <a:avLst/>
          </a:prstGeom>
          <a:noFill/>
        </p:spPr>
        <p:txBody>
          <a:bodyPr wrap="square" anchor="t" lIns="0" rIns="0" tIns="0" bIns="0"/>
          <a:lstStyle/>
          <a:p>
            <a:pPr algn="ctr">
              <a:lnSpc>
                <a:spcPct val="115000"/>
              </a:lnSpc>
              <a:spcAft>
                <a:spcPts val="600"/>
              </a:spcAft>
            </a:pPr>
            <a:r>
              <a:rPr sz="1900" b="1">
                <a:solidFill>
                  <a:srgbClr val="0E4F5C"/>
                </a:solidFill>
                <a:latin typeface="IPAPGothic"/>
                <a:ea typeface="IPAPGothic"/>
                <a:cs typeface="IPAPGothic"/>
              </a:rPr>
              <a:t>お片付け</a:t>
            </a:r>
          </a:p>
        </p:txBody>
      </p:sp>
      <p:sp>
        <p:nvSpPr>
          <p:cNvPr id="23" name="TextBox 22"/>
          <p:cNvSpPr txBox="1"/>
          <p:nvPr/>
        </p:nvSpPr>
        <p:spPr>
          <a:xfrm>
            <a:off x="7424928" y="4343400"/>
            <a:ext cx="1792224" cy="137160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古くなった記録や使われない画像を整理</a:t>
            </a:r>
          </a:p>
        </p:txBody>
      </p:sp>
      <p:sp>
        <p:nvSpPr>
          <p:cNvPr id="24" name="Oval 23"/>
          <p:cNvSpPr/>
          <p:nvPr/>
        </p:nvSpPr>
        <p:spPr>
          <a:xfrm>
            <a:off x="10012680" y="2286000"/>
            <a:ext cx="1097280" cy="109728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朝</a:t>
            </a:r>
          </a:p>
        </p:txBody>
      </p:sp>
      <p:sp>
        <p:nvSpPr>
          <p:cNvPr id="25" name="Rounded Rectangle 24"/>
          <p:cNvSpPr/>
          <p:nvPr/>
        </p:nvSpPr>
        <p:spPr>
          <a:xfrm>
            <a:off x="9528048" y="3657600"/>
            <a:ext cx="2066543" cy="210312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01200" y="3794760"/>
            <a:ext cx="1920240" cy="502920"/>
          </a:xfrm>
          <a:prstGeom prst="rect">
            <a:avLst/>
          </a:prstGeom>
          <a:noFill/>
        </p:spPr>
        <p:txBody>
          <a:bodyPr wrap="square" anchor="t" lIns="0" rIns="0" tIns="0" bIns="0"/>
          <a:lstStyle/>
          <a:p>
            <a:pPr algn="ctr">
              <a:lnSpc>
                <a:spcPct val="115000"/>
              </a:lnSpc>
              <a:spcAft>
                <a:spcPts val="600"/>
              </a:spcAft>
            </a:pPr>
            <a:r>
              <a:rPr sz="1900" b="1">
                <a:solidFill>
                  <a:srgbClr val="0E4F5C"/>
                </a:solidFill>
                <a:latin typeface="IPAPGothic"/>
                <a:ea typeface="IPAPGothic"/>
                <a:cs typeface="IPAPGothic"/>
              </a:rPr>
              <a:t>結果の確認</a:t>
            </a:r>
          </a:p>
        </p:txBody>
      </p:sp>
      <p:sp>
        <p:nvSpPr>
          <p:cNvPr id="27" name="TextBox 26"/>
          <p:cNvSpPr txBox="1"/>
          <p:nvPr/>
        </p:nvSpPr>
        <p:spPr>
          <a:xfrm>
            <a:off x="9665208" y="4343400"/>
            <a:ext cx="1792224" cy="137160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失敗があれば担当者にメールでお知らせ</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何が良くなるか</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良くなること⑤ これから先の広がり</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14 / 23</a:t>
            </a:r>
          </a:p>
        </p:txBody>
      </p:sp>
      <p:sp>
        <p:nvSpPr>
          <p:cNvPr id="6" name="Rounded Rectangle 5"/>
          <p:cNvSpPr/>
          <p:nvPr/>
        </p:nvSpPr>
        <p:spPr>
          <a:xfrm>
            <a:off x="548640" y="1371600"/>
            <a:ext cx="5440680" cy="356616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1645920"/>
            <a:ext cx="822960" cy="82296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IPAPGothic"/>
                <a:ea typeface="IPAPGothic"/>
                <a:cs typeface="IPAPGothic"/>
              </a:rPr>
              <a:t>割</a:t>
            </a:r>
          </a:p>
        </p:txBody>
      </p:sp>
      <p:sp>
        <p:nvSpPr>
          <p:cNvPr id="8" name="TextBox 7"/>
          <p:cNvSpPr txBox="1"/>
          <p:nvPr/>
        </p:nvSpPr>
        <p:spPr>
          <a:xfrm>
            <a:off x="1874519" y="1645920"/>
            <a:ext cx="3931920" cy="822960"/>
          </a:xfrm>
          <a:prstGeom prst="rect">
            <a:avLst/>
          </a:prstGeom>
          <a:noFill/>
        </p:spPr>
        <p:txBody>
          <a:bodyPr wrap="square" anchor="ctr" lIns="0" rIns="0" tIns="0" bIns="0"/>
          <a:lstStyle/>
          <a:p>
            <a:pPr algn="l">
              <a:lnSpc>
                <a:spcPct val="115000"/>
              </a:lnSpc>
              <a:spcAft>
                <a:spcPts val="600"/>
              </a:spcAft>
            </a:pPr>
            <a:r>
              <a:rPr sz="2300" b="1">
                <a:solidFill>
                  <a:srgbClr val="0E4F5C"/>
                </a:solidFill>
                <a:latin typeface="IPAPGothic"/>
                <a:ea typeface="IPAPGothic"/>
                <a:cs typeface="IPAPGothic"/>
              </a:rPr>
              <a:t>スタッフの最適な割り振り</a:t>
            </a:r>
          </a:p>
        </p:txBody>
      </p:sp>
      <p:sp>
        <p:nvSpPr>
          <p:cNvPr id="9" name="TextBox 8"/>
          <p:cNvSpPr txBox="1"/>
          <p:nvPr/>
        </p:nvSpPr>
        <p:spPr>
          <a:xfrm>
            <a:off x="914400" y="2743200"/>
            <a:ext cx="4754880" cy="2743200"/>
          </a:xfrm>
          <a:prstGeom prst="rect">
            <a:avLst/>
          </a:prstGeom>
          <a:noFill/>
        </p:spPr>
        <p:txBody>
          <a:bodyPr wrap="square" anchor="t" lIns="0" rIns="0" tIns="0" bIns="0"/>
          <a:lstStyle/>
          <a:p>
            <a:pPr algn="l">
              <a:lnSpc>
                <a:spcPct val="120000"/>
              </a:lnSpc>
              <a:spcAft>
                <a:spcPts val="12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事務局向けに、お客様とスタッフの組み合わせを考えるアプリを作れます</a:t>
            </a:r>
          </a:p>
          <a:p>
            <a:pPr algn="l">
              <a:lnSpc>
                <a:spcPct val="120000"/>
              </a:lnSpc>
              <a:spcAft>
                <a:spcPts val="12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得意なこと・勤務できる時間・予定の空き・相性を入れる箱は、もう用意してあります</a:t>
            </a:r>
          </a:p>
        </p:txBody>
      </p:sp>
      <p:sp>
        <p:nvSpPr>
          <p:cNvPr id="10" name="Rounded Rectangle 9"/>
          <p:cNvSpPr/>
          <p:nvPr/>
        </p:nvSpPr>
        <p:spPr>
          <a:xfrm>
            <a:off x="6153912" y="1371600"/>
            <a:ext cx="5440680" cy="356616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73951" y="1645920"/>
            <a:ext cx="822960" cy="82296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IPAPGothic"/>
                <a:ea typeface="IPAPGothic"/>
                <a:cs typeface="IPAPGothic"/>
              </a:rPr>
              <a:t>広</a:t>
            </a:r>
          </a:p>
        </p:txBody>
      </p:sp>
      <p:sp>
        <p:nvSpPr>
          <p:cNvPr id="12" name="TextBox 11"/>
          <p:cNvSpPr txBox="1"/>
          <p:nvPr/>
        </p:nvSpPr>
        <p:spPr>
          <a:xfrm>
            <a:off x="7479792" y="1645920"/>
            <a:ext cx="3931920" cy="822960"/>
          </a:xfrm>
          <a:prstGeom prst="rect">
            <a:avLst/>
          </a:prstGeom>
          <a:noFill/>
        </p:spPr>
        <p:txBody>
          <a:bodyPr wrap="square" anchor="ctr" lIns="0" rIns="0" tIns="0" bIns="0"/>
          <a:lstStyle/>
          <a:p>
            <a:pPr algn="l">
              <a:lnSpc>
                <a:spcPct val="115000"/>
              </a:lnSpc>
              <a:spcAft>
                <a:spcPts val="600"/>
              </a:spcAft>
            </a:pPr>
            <a:r>
              <a:rPr sz="2300" b="1">
                <a:solidFill>
                  <a:srgbClr val="0E4F5C"/>
                </a:solidFill>
                <a:latin typeface="IPAPGothic"/>
                <a:ea typeface="IPAPGothic"/>
                <a:cs typeface="IPAPGothic"/>
              </a:rPr>
              <a:t>他の事業者さまへの展開</a:t>
            </a:r>
          </a:p>
        </p:txBody>
      </p:sp>
      <p:sp>
        <p:nvSpPr>
          <p:cNvPr id="13" name="TextBox 12"/>
          <p:cNvSpPr txBox="1"/>
          <p:nvPr/>
        </p:nvSpPr>
        <p:spPr>
          <a:xfrm>
            <a:off x="6519672" y="2743200"/>
            <a:ext cx="4754880" cy="2743200"/>
          </a:xfrm>
          <a:prstGeom prst="rect">
            <a:avLst/>
          </a:prstGeom>
          <a:noFill/>
        </p:spPr>
        <p:txBody>
          <a:bodyPr wrap="square" anchor="t" lIns="0" rIns="0" tIns="0" bIns="0"/>
          <a:lstStyle/>
          <a:p>
            <a:pPr algn="l">
              <a:lnSpc>
                <a:spcPct val="120000"/>
              </a:lnSpc>
              <a:spcAft>
                <a:spcPts val="12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1つの仕組みで、複数の会社のデータを安全に分けて扱えます</a:t>
            </a:r>
          </a:p>
          <a:p>
            <a:pPr algn="l">
              <a:lnSpc>
                <a:spcPct val="120000"/>
              </a:lnSpc>
              <a:spcAft>
                <a:spcPts val="1200"/>
              </a:spcAft>
            </a:pPr>
            <a:r>
              <a:rPr sz="1400" b="0">
                <a:solidFill>
                  <a:srgbClr val="1F8A8A"/>
                </a:solidFill>
                <a:latin typeface="IPAPGothic"/>
                <a:ea typeface="IPAPGothic"/>
                <a:cs typeface="IPAPGothic"/>
              </a:rPr>
              <a:t>● </a:t>
            </a:r>
            <a:r>
              <a:rPr sz="1800" b="0">
                <a:solidFill>
                  <a:srgbClr val="1F2D33"/>
                </a:solidFill>
                <a:latin typeface="IPAPGothic"/>
                <a:ea typeface="IPAPGothic"/>
                <a:cs typeface="IPAPGothic"/>
              </a:rPr>
              <a:t>キューテスト様で育てた使い方を、ほかの事業者さまにも広げられます</a:t>
            </a:r>
          </a:p>
        </p:txBody>
      </p:sp>
      <p:sp>
        <p:nvSpPr>
          <p:cNvPr id="14" name="TextBox 13"/>
          <p:cNvSpPr txBox="1"/>
          <p:nvPr/>
        </p:nvSpPr>
        <p:spPr>
          <a:xfrm>
            <a:off x="548640" y="5257800"/>
            <a:ext cx="11064240" cy="365760"/>
          </a:xfrm>
          <a:prstGeom prst="rect">
            <a:avLst/>
          </a:prstGeom>
          <a:noFill/>
        </p:spPr>
        <p:txBody>
          <a:bodyPr wrap="square" anchor="t" lIns="0" rIns="0" tIns="0" bIns="0"/>
          <a:lstStyle/>
          <a:p>
            <a:pPr algn="l">
              <a:lnSpc>
                <a:spcPct val="115000"/>
              </a:lnSpc>
              <a:spcAft>
                <a:spcPts val="600"/>
              </a:spcAft>
            </a:pPr>
            <a:r>
              <a:rPr sz="1500" b="0">
                <a:solidFill>
                  <a:srgbClr val="5B6B70"/>
                </a:solidFill>
                <a:latin typeface="IPAPGothic"/>
                <a:ea typeface="IPAPGothic"/>
                <a:cs typeface="IPAPGothic"/>
              </a:rPr>
              <a:t>※ どちらも「これから作るもの」です。今回の切り替えでは、今のアプリの機能に、通知と管理の画面を加えてお届けします。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まとめ</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変わること・変わらないこと</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15 / 23</a:t>
            </a:r>
          </a:p>
        </p:txBody>
      </p:sp>
      <p:sp>
        <p:nvSpPr>
          <p:cNvPr id="6" name="Rounded Rectangle 5"/>
          <p:cNvSpPr/>
          <p:nvPr/>
        </p:nvSpPr>
        <p:spPr>
          <a:xfrm>
            <a:off x="548640" y="1371600"/>
            <a:ext cx="5440680" cy="480060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1572768"/>
            <a:ext cx="640080" cy="640080"/>
          </a:xfrm>
          <a:prstGeom prst="ellipse">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a:t>
            </a:r>
          </a:p>
        </p:txBody>
      </p:sp>
      <p:sp>
        <p:nvSpPr>
          <p:cNvPr id="8" name="TextBox 7"/>
          <p:cNvSpPr txBox="1"/>
          <p:nvPr/>
        </p:nvSpPr>
        <p:spPr>
          <a:xfrm>
            <a:off x="1645919" y="1572768"/>
            <a:ext cx="4114800" cy="640080"/>
          </a:xfrm>
          <a:prstGeom prst="rect">
            <a:avLst/>
          </a:prstGeom>
          <a:noFill/>
        </p:spPr>
        <p:txBody>
          <a:bodyPr wrap="square" anchor="ctr" lIns="0" rIns="0" tIns="0" bIns="0"/>
          <a:lstStyle/>
          <a:p>
            <a:pPr algn="l">
              <a:lnSpc>
                <a:spcPct val="115000"/>
              </a:lnSpc>
              <a:spcAft>
                <a:spcPts val="600"/>
              </a:spcAft>
            </a:pPr>
            <a:r>
              <a:rPr sz="2400" b="1">
                <a:solidFill>
                  <a:srgbClr val="0E4F5C"/>
                </a:solidFill>
                <a:latin typeface="IPAPGothic"/>
                <a:ea typeface="IPAPGothic"/>
                <a:cs typeface="IPAPGothic"/>
              </a:rPr>
              <a:t>変わらないこと</a:t>
            </a:r>
          </a:p>
        </p:txBody>
      </p:sp>
      <p:sp>
        <p:nvSpPr>
          <p:cNvPr id="9" name="TextBox 8"/>
          <p:cNvSpPr txBox="1"/>
          <p:nvPr/>
        </p:nvSpPr>
        <p:spPr>
          <a:xfrm>
            <a:off x="868680" y="2468880"/>
            <a:ext cx="4937760" cy="3657600"/>
          </a:xfrm>
          <a:prstGeom prst="rect">
            <a:avLst/>
          </a:prstGeom>
          <a:noFill/>
        </p:spPr>
        <p:txBody>
          <a:bodyPr wrap="square" anchor="t" lIns="0" rIns="0" tIns="0" bIns="0"/>
          <a:lstStyle/>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画面の使い方（今の画面をもとに作っています）</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ログインのメールアドレスとパスワード</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予定はGoogleカレンダーで管理</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毎晩の出勤簿への反映（お客様の取り込みは10分ごとに）</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日報のAI下書き・領収書の読み取り・チャットへの通知</a:t>
            </a:r>
          </a:p>
        </p:txBody>
      </p:sp>
      <p:sp>
        <p:nvSpPr>
          <p:cNvPr id="10" name="Rounded Rectangle 9"/>
          <p:cNvSpPr/>
          <p:nvPr/>
        </p:nvSpPr>
        <p:spPr>
          <a:xfrm>
            <a:off x="6153912" y="1371600"/>
            <a:ext cx="5440680" cy="4800600"/>
          </a:xfrm>
          <a:prstGeom prst="roundRect">
            <a:avLst>
              <a:gd name="adj" fmla="val 8000"/>
            </a:avLst>
          </a:prstGeom>
          <a:solidFill>
            <a:srgbClr val="FFFFFF"/>
          </a:solidFill>
          <a:ln w="15875">
            <a:solidFill>
              <a:srgbClr val="7CC4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28231" y="1572768"/>
            <a:ext cx="640080" cy="64008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a:t>
            </a:r>
          </a:p>
        </p:txBody>
      </p:sp>
      <p:sp>
        <p:nvSpPr>
          <p:cNvPr id="12" name="TextBox 11"/>
          <p:cNvSpPr txBox="1"/>
          <p:nvPr/>
        </p:nvSpPr>
        <p:spPr>
          <a:xfrm>
            <a:off x="7251192" y="1572768"/>
            <a:ext cx="4114800" cy="640080"/>
          </a:xfrm>
          <a:prstGeom prst="rect">
            <a:avLst/>
          </a:prstGeom>
          <a:noFill/>
        </p:spPr>
        <p:txBody>
          <a:bodyPr wrap="square" anchor="ctr" lIns="0" rIns="0" tIns="0" bIns="0"/>
          <a:lstStyle/>
          <a:p>
            <a:pPr algn="l">
              <a:lnSpc>
                <a:spcPct val="115000"/>
              </a:lnSpc>
              <a:spcAft>
                <a:spcPts val="600"/>
              </a:spcAft>
            </a:pPr>
            <a:r>
              <a:rPr sz="2400" b="1">
                <a:solidFill>
                  <a:srgbClr val="1F8A8A"/>
                </a:solidFill>
                <a:latin typeface="IPAPGothic"/>
                <a:ea typeface="IPAPGothic"/>
                <a:cs typeface="IPAPGothic"/>
              </a:rPr>
              <a:t>変わること</a:t>
            </a:r>
          </a:p>
        </p:txBody>
      </p:sp>
      <p:sp>
        <p:nvSpPr>
          <p:cNvPr id="13" name="TextBox 12"/>
          <p:cNvSpPr txBox="1"/>
          <p:nvPr/>
        </p:nvSpPr>
        <p:spPr>
          <a:xfrm>
            <a:off x="6473951" y="2468880"/>
            <a:ext cx="4937760" cy="3657600"/>
          </a:xfrm>
          <a:prstGeom prst="rect">
            <a:avLst/>
          </a:prstGeom>
          <a:noFill/>
        </p:spPr>
        <p:txBody>
          <a:bodyPr wrap="square" anchor="t" lIns="0" rIns="0" tIns="0" bIns="0"/>
          <a:lstStyle/>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アプリのURL（ホーム画面に追加し直します）</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記録の正本はデータベースに。シートは見るだけの写し</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明日の予定はLINE WORKSではなく、スマホの通知で</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スタッフ・AIの指示の管理は、アプリの管理の画面で</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シートへの書き写しは必要な間だけ（選べます）</a:t>
            </a:r>
          </a:p>
          <a:p>
            <a:pPr algn="l">
              <a:lnSpc>
                <a:spcPct val="120000"/>
              </a:lnSpc>
              <a:spcAft>
                <a:spcPts val="9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毎月のクラウド利用料がかかります(20ページ）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進め方</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データの引っ越し（移行）の流れ</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16 / 23</a:t>
            </a:r>
          </a:p>
        </p:txBody>
      </p:sp>
      <p:sp>
        <p:nvSpPr>
          <p:cNvPr id="6" name="Pentagon 5"/>
          <p:cNvSpPr/>
          <p:nvPr/>
        </p:nvSpPr>
        <p:spPr>
          <a:xfrm>
            <a:off x="548640" y="1417320"/>
            <a:ext cx="2670048" cy="868680"/>
          </a:xfrm>
          <a:prstGeom prst="homePlate">
            <a:avLst>
              <a:gd name="adj" fmla="val 30000"/>
            </a:avLst>
          </a:prstGeom>
          <a:solidFill>
            <a:srgbClr val="D3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417320"/>
            <a:ext cx="2194560" cy="86868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1 </a:t>
            </a:r>
            <a:r>
              <a:rPr sz="2200" b="1">
                <a:solidFill>
                  <a:srgbClr val="0E4F5C"/>
                </a:solidFill>
                <a:latin typeface="IPAPGothic"/>
                <a:ea typeface="IPAPGothic"/>
                <a:cs typeface="IPAPGothic"/>
              </a:rPr>
              <a:t>準備</a:t>
            </a:r>
          </a:p>
        </p:txBody>
      </p:sp>
      <p:sp>
        <p:nvSpPr>
          <p:cNvPr id="8" name="Rounded Rectangle 7"/>
          <p:cNvSpPr/>
          <p:nvPr/>
        </p:nvSpPr>
        <p:spPr>
          <a:xfrm>
            <a:off x="548640" y="2560320"/>
            <a:ext cx="2560320" cy="333756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743200"/>
            <a:ext cx="2240279" cy="3108960"/>
          </a:xfrm>
          <a:prstGeom prst="rect">
            <a:avLst/>
          </a:prstGeom>
          <a:noFill/>
        </p:spPr>
        <p:txBody>
          <a:bodyPr wrap="square" anchor="t" lIns="0" rIns="0" tIns="0" bIns="0"/>
          <a:lstStyle/>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本番の環境を仕上げる（会社・夜間処理の設定）</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台帳・お客様・今月の出勤簿を取り込む</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今のパスワードでログインできるか確認</a:t>
            </a:r>
          </a:p>
        </p:txBody>
      </p:sp>
      <p:sp>
        <p:nvSpPr>
          <p:cNvPr id="10" name="Chevron 9"/>
          <p:cNvSpPr/>
          <p:nvPr/>
        </p:nvSpPr>
        <p:spPr>
          <a:xfrm>
            <a:off x="3328416" y="1417320"/>
            <a:ext cx="2670048" cy="868680"/>
          </a:xfrm>
          <a:prstGeom prst="chevron">
            <a:avLst>
              <a:gd name="adj" fmla="val 30000"/>
            </a:avLst>
          </a:prstGeom>
          <a:solidFill>
            <a:srgbClr val="7CC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48456" y="1417320"/>
            <a:ext cx="2194560" cy="868680"/>
          </a:xfrm>
          <a:prstGeom prst="rect">
            <a:avLst/>
          </a:prstGeom>
          <a:noFill/>
        </p:spPr>
        <p:txBody>
          <a:bodyPr wrap="square" anchor="ctr" lIns="0" rIns="0" tIns="0" bIns="0"/>
          <a:lstStyle/>
          <a:p>
            <a:pPr algn="l">
              <a:lnSpc>
                <a:spcPct val="115000"/>
              </a:lnSpc>
              <a:spcAft>
                <a:spcPts val="600"/>
              </a:spcAft>
            </a:pPr>
            <a:r>
              <a:rPr sz="2200" b="1">
                <a:solidFill>
                  <a:srgbClr val="0E4F5C"/>
                </a:solidFill>
                <a:latin typeface="IPAPGothic"/>
                <a:ea typeface="IPAPGothic"/>
                <a:cs typeface="IPAPGothic"/>
              </a:rPr>
              <a:t>2 </a:t>
            </a:r>
            <a:r>
              <a:rPr sz="2200" b="1">
                <a:solidFill>
                  <a:srgbClr val="0E4F5C"/>
                </a:solidFill>
                <a:latin typeface="IPAPGothic"/>
                <a:ea typeface="IPAPGothic"/>
                <a:cs typeface="IPAPGothic"/>
              </a:rPr>
              <a:t>試しに使う</a:t>
            </a:r>
          </a:p>
        </p:txBody>
      </p:sp>
      <p:sp>
        <p:nvSpPr>
          <p:cNvPr id="12" name="Rounded Rectangle 11"/>
          <p:cNvSpPr/>
          <p:nvPr/>
        </p:nvSpPr>
        <p:spPr>
          <a:xfrm>
            <a:off x="3328416" y="2560320"/>
            <a:ext cx="2560320" cy="333756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11296" y="2743200"/>
            <a:ext cx="2240279" cy="3108960"/>
          </a:xfrm>
          <a:prstGeom prst="rect">
            <a:avLst/>
          </a:prstGeom>
          <a:noFill/>
        </p:spPr>
        <p:txBody>
          <a:bodyPr wrap="square" anchor="t" lIns="0" rIns="0" tIns="0" bIns="0"/>
          <a:lstStyle/>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事務局と一部のスタッフで試用</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同じ日を両方のアプリで入力しない</a:t>
            </a:r>
          </a:p>
        </p:txBody>
      </p:sp>
      <p:sp>
        <p:nvSpPr>
          <p:cNvPr id="14" name="Chevron 13"/>
          <p:cNvSpPr/>
          <p:nvPr/>
        </p:nvSpPr>
        <p:spPr>
          <a:xfrm>
            <a:off x="6108192" y="1417320"/>
            <a:ext cx="2670048" cy="868680"/>
          </a:xfrm>
          <a:prstGeom prst="chevron">
            <a:avLst>
              <a:gd name="adj" fmla="val 3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28231" y="1417320"/>
            <a:ext cx="2194560" cy="868680"/>
          </a:xfrm>
          <a:prstGeom prst="rect">
            <a:avLst/>
          </a:prstGeom>
          <a:noFill/>
        </p:spPr>
        <p:txBody>
          <a:bodyPr wrap="square" anchor="ctr" lIns="0" rIns="0" tIns="0" bIns="0"/>
          <a:lstStyle/>
          <a:p>
            <a:pPr algn="l">
              <a:lnSpc>
                <a:spcPct val="115000"/>
              </a:lnSpc>
              <a:spcAft>
                <a:spcPts val="600"/>
              </a:spcAft>
            </a:pPr>
            <a:r>
              <a:rPr sz="2200" b="1">
                <a:solidFill>
                  <a:srgbClr val="FFFFFF"/>
                </a:solidFill>
                <a:latin typeface="IPAPGothic"/>
                <a:ea typeface="IPAPGothic"/>
                <a:cs typeface="IPAPGothic"/>
              </a:rPr>
              <a:t>3 </a:t>
            </a:r>
            <a:r>
              <a:rPr sz="2200" b="1">
                <a:solidFill>
                  <a:srgbClr val="FFFFFF"/>
                </a:solidFill>
                <a:latin typeface="IPAPGothic"/>
                <a:ea typeface="IPAPGothic"/>
                <a:cs typeface="IPAPGothic"/>
              </a:rPr>
              <a:t>切替日</a:t>
            </a:r>
          </a:p>
        </p:txBody>
      </p:sp>
      <p:sp>
        <p:nvSpPr>
          <p:cNvPr id="16" name="Rounded Rectangle 15"/>
          <p:cNvSpPr/>
          <p:nvPr/>
        </p:nvSpPr>
        <p:spPr>
          <a:xfrm>
            <a:off x="6108192" y="2560320"/>
            <a:ext cx="2560320" cy="3337560"/>
          </a:xfrm>
          <a:prstGeom prst="roundRect">
            <a:avLst>
              <a:gd name="adj" fmla="val 8000"/>
            </a:avLst>
          </a:prstGeom>
          <a:solidFill>
            <a:srgbClr val="D3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91072" y="2743200"/>
            <a:ext cx="2240279" cy="3108960"/>
          </a:xfrm>
          <a:prstGeom prst="rect">
            <a:avLst/>
          </a:prstGeom>
          <a:noFill/>
        </p:spPr>
        <p:txBody>
          <a:bodyPr wrap="square" anchor="t" lIns="0" rIns="0" tIns="0" bIns="0"/>
          <a:lstStyle/>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今のアプリの夜間処理を止め、新しい夜間処理を始める</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スタッフに新しいURLをご案内</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各自がスマホの通知をオンに</a:t>
            </a:r>
          </a:p>
        </p:txBody>
      </p:sp>
      <p:sp>
        <p:nvSpPr>
          <p:cNvPr id="18" name="Chevron 17"/>
          <p:cNvSpPr/>
          <p:nvPr/>
        </p:nvSpPr>
        <p:spPr>
          <a:xfrm>
            <a:off x="8887968" y="1417320"/>
            <a:ext cx="2670048" cy="868680"/>
          </a:xfrm>
          <a:prstGeom prst="chevron">
            <a:avLst>
              <a:gd name="adj" fmla="val 30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08008" y="1417320"/>
            <a:ext cx="2194560" cy="868680"/>
          </a:xfrm>
          <a:prstGeom prst="rect">
            <a:avLst/>
          </a:prstGeom>
          <a:noFill/>
        </p:spPr>
        <p:txBody>
          <a:bodyPr wrap="square" anchor="ctr" lIns="0" rIns="0" tIns="0" bIns="0"/>
          <a:lstStyle/>
          <a:p>
            <a:pPr algn="l">
              <a:lnSpc>
                <a:spcPct val="115000"/>
              </a:lnSpc>
              <a:spcAft>
                <a:spcPts val="600"/>
              </a:spcAft>
            </a:pPr>
            <a:r>
              <a:rPr sz="2200" b="1">
                <a:solidFill>
                  <a:srgbClr val="FFFFFF"/>
                </a:solidFill>
                <a:latin typeface="IPAPGothic"/>
                <a:ea typeface="IPAPGothic"/>
                <a:cs typeface="IPAPGothic"/>
              </a:rPr>
              <a:t>4 </a:t>
            </a:r>
            <a:r>
              <a:rPr sz="2200" b="1">
                <a:solidFill>
                  <a:srgbClr val="FFFFFF"/>
                </a:solidFill>
                <a:latin typeface="IPAPGothic"/>
                <a:ea typeface="IPAPGothic"/>
                <a:cs typeface="IPAPGothic"/>
              </a:rPr>
              <a:t>切替後の確認</a:t>
            </a:r>
          </a:p>
        </p:txBody>
      </p:sp>
      <p:sp>
        <p:nvSpPr>
          <p:cNvPr id="20" name="Rounded Rectangle 19"/>
          <p:cNvSpPr/>
          <p:nvPr/>
        </p:nvSpPr>
        <p:spPr>
          <a:xfrm>
            <a:off x="8887968" y="2560320"/>
            <a:ext cx="2560320" cy="333756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70848" y="2743200"/>
            <a:ext cx="2240279" cy="3108960"/>
          </a:xfrm>
          <a:prstGeom prst="rect">
            <a:avLst/>
          </a:prstGeom>
          <a:noFill/>
        </p:spPr>
        <p:txBody>
          <a:bodyPr wrap="square" anchor="t" lIns="0" rIns="0" tIns="0" bIns="0"/>
          <a:lstStyle/>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翌朝、出勤簿とお客様データの更新を確認</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全員が通知をオンにしたら、LINE WORKSのお知らせを止める</a:t>
            </a:r>
          </a:p>
          <a:p>
            <a:pPr algn="l">
              <a:lnSpc>
                <a:spcPct val="120000"/>
              </a:lnSpc>
              <a:spcAft>
                <a:spcPts val="1000"/>
              </a:spcAft>
            </a:pPr>
            <a:r>
              <a:rPr sz="1300" b="0">
                <a:solidFill>
                  <a:srgbClr val="1F8A8A"/>
                </a:solidFill>
                <a:latin typeface="IPAPGothic"/>
                <a:ea typeface="IPAPGothic"/>
                <a:cs typeface="IPAPGothic"/>
              </a:rPr>
              <a:t>● </a:t>
            </a:r>
            <a:r>
              <a:rPr sz="1700" b="0">
                <a:solidFill>
                  <a:srgbClr val="1F2D33"/>
                </a:solidFill>
                <a:latin typeface="IPAPGothic"/>
                <a:ea typeface="IPAPGothic"/>
                <a:cs typeface="IPAPGothic"/>
              </a:rPr>
              <a:t>残っている古い仕組みを順に止める</a:t>
            </a:r>
          </a:p>
        </p:txBody>
      </p:sp>
      <p:sp>
        <p:nvSpPr>
          <p:cNvPr id="22" name="TextBox 21"/>
          <p:cNvSpPr txBox="1"/>
          <p:nvPr/>
        </p:nvSpPr>
        <p:spPr>
          <a:xfrm>
            <a:off x="548640" y="5989320"/>
            <a:ext cx="11064240" cy="365760"/>
          </a:xfrm>
          <a:prstGeom prst="rect">
            <a:avLst/>
          </a:prstGeom>
          <a:noFill/>
        </p:spPr>
        <p:txBody>
          <a:bodyPr wrap="square" anchor="t" lIns="0" rIns="0" tIns="0" bIns="0"/>
          <a:lstStyle/>
          <a:p>
            <a:pPr algn="l">
              <a:lnSpc>
                <a:spcPct val="115000"/>
              </a:lnSpc>
              <a:spcAft>
                <a:spcPts val="600"/>
              </a:spcAft>
            </a:pPr>
            <a:r>
              <a:rPr sz="1500" b="0">
                <a:solidFill>
                  <a:srgbClr val="5B6B70"/>
                </a:solidFill>
                <a:latin typeface="IPAPGothic"/>
                <a:ea typeface="IPAPGothic"/>
                <a:cs typeface="IPAPGothic"/>
              </a:rPr>
              <a:t>日程は、キューテスト様のご都合を伺って決めます。試用の期間は必要に応じて調整できます。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進め方</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切替日のチェックリスト</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17 / 23</a:t>
            </a:r>
          </a:p>
        </p:txBody>
      </p:sp>
      <p:sp>
        <p:nvSpPr>
          <p:cNvPr id="6" name="Rounded Rectangle 5"/>
          <p:cNvSpPr/>
          <p:nvPr/>
        </p:nvSpPr>
        <p:spPr>
          <a:xfrm>
            <a:off x="548640" y="1325880"/>
            <a:ext cx="11091672" cy="70408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77240" y="1472184"/>
            <a:ext cx="402336" cy="402336"/>
          </a:xfrm>
          <a:prstGeom prst="roundRect">
            <a:avLst>
              <a:gd name="adj" fmla="val 15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17320" y="1325880"/>
            <a:ext cx="8138160" cy="704088"/>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今のアプリの夜の処理(22時の出勤簿反映・3時のお客様取り込み）を止める</a:t>
            </a:r>
          </a:p>
        </p:txBody>
      </p:sp>
      <p:sp>
        <p:nvSpPr>
          <p:cNvPr id="9" name="Rounded Rectangle 8"/>
          <p:cNvSpPr/>
          <p:nvPr/>
        </p:nvSpPr>
        <p:spPr>
          <a:xfrm>
            <a:off x="9784080" y="1453895"/>
            <a:ext cx="1645920" cy="457200"/>
          </a:xfrm>
          <a:prstGeom prst="roundRect">
            <a:avLst>
              <a:gd name="adj" fmla="val 50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0" y="1453895"/>
            <a:ext cx="1645920" cy="457200"/>
          </a:xfrm>
          <a:prstGeom prst="rect">
            <a:avLst/>
          </a:prstGeom>
          <a:noFill/>
        </p:spPr>
        <p:txBody>
          <a:bodyPr wrap="square" anchor="ctr" lIns="0" rIns="0" tIns="0" bIns="0"/>
          <a:lstStyle/>
          <a:p>
            <a:pPr algn="ctr">
              <a:lnSpc>
                <a:spcPct val="115000"/>
              </a:lnSpc>
              <a:spcAft>
                <a:spcPts val="600"/>
              </a:spcAft>
            </a:pPr>
            <a:r>
              <a:rPr sz="1500" b="1">
                <a:solidFill>
                  <a:srgbClr val="FFFFFF"/>
                </a:solidFill>
                <a:latin typeface="IPAPGothic"/>
                <a:ea typeface="IPAPGothic"/>
                <a:cs typeface="IPAPGothic"/>
              </a:rPr>
              <a:t>開発担当</a:t>
            </a:r>
          </a:p>
        </p:txBody>
      </p:sp>
      <p:sp>
        <p:nvSpPr>
          <p:cNvPr id="11" name="Rounded Rectangle 10"/>
          <p:cNvSpPr/>
          <p:nvPr/>
        </p:nvSpPr>
        <p:spPr>
          <a:xfrm>
            <a:off x="548640" y="2139696"/>
            <a:ext cx="11091672" cy="704088"/>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777240" y="2286000"/>
            <a:ext cx="402336" cy="402336"/>
          </a:xfrm>
          <a:prstGeom prst="roundRect">
            <a:avLst>
              <a:gd name="adj" fmla="val 15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17320" y="2139696"/>
            <a:ext cx="8138160" cy="704088"/>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新しいアプリの夜の処理を始める（同じ日に行い、二重の反映を防ぎます）</a:t>
            </a:r>
          </a:p>
        </p:txBody>
      </p:sp>
      <p:sp>
        <p:nvSpPr>
          <p:cNvPr id="14" name="Rounded Rectangle 13"/>
          <p:cNvSpPr/>
          <p:nvPr/>
        </p:nvSpPr>
        <p:spPr>
          <a:xfrm>
            <a:off x="9784080" y="2267712"/>
            <a:ext cx="1645920" cy="457200"/>
          </a:xfrm>
          <a:prstGeom prst="roundRect">
            <a:avLst>
              <a:gd name="adj" fmla="val 50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84080" y="2267712"/>
            <a:ext cx="1645920" cy="457200"/>
          </a:xfrm>
          <a:prstGeom prst="rect">
            <a:avLst/>
          </a:prstGeom>
          <a:noFill/>
        </p:spPr>
        <p:txBody>
          <a:bodyPr wrap="square" anchor="ctr" lIns="0" rIns="0" tIns="0" bIns="0"/>
          <a:lstStyle/>
          <a:p>
            <a:pPr algn="ctr">
              <a:lnSpc>
                <a:spcPct val="115000"/>
              </a:lnSpc>
              <a:spcAft>
                <a:spcPts val="600"/>
              </a:spcAft>
            </a:pPr>
            <a:r>
              <a:rPr sz="1500" b="1">
                <a:solidFill>
                  <a:srgbClr val="FFFFFF"/>
                </a:solidFill>
                <a:latin typeface="IPAPGothic"/>
                <a:ea typeface="IPAPGothic"/>
                <a:cs typeface="IPAPGothic"/>
              </a:rPr>
              <a:t>開発担当</a:t>
            </a:r>
          </a:p>
        </p:txBody>
      </p:sp>
      <p:sp>
        <p:nvSpPr>
          <p:cNvPr id="16" name="Rounded Rectangle 15"/>
          <p:cNvSpPr/>
          <p:nvPr/>
        </p:nvSpPr>
        <p:spPr>
          <a:xfrm>
            <a:off x="548640" y="2953512"/>
            <a:ext cx="11091672" cy="70408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77240" y="3099816"/>
            <a:ext cx="402336" cy="402336"/>
          </a:xfrm>
          <a:prstGeom prst="roundRect">
            <a:avLst>
              <a:gd name="adj" fmla="val 15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17320" y="2953512"/>
            <a:ext cx="8138160" cy="704088"/>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スタッフ全員に新しいURLをお知らせし、ホーム画面に追加してもらう</a:t>
            </a:r>
          </a:p>
        </p:txBody>
      </p:sp>
      <p:sp>
        <p:nvSpPr>
          <p:cNvPr id="19" name="Rounded Rectangle 18"/>
          <p:cNvSpPr/>
          <p:nvPr/>
        </p:nvSpPr>
        <p:spPr>
          <a:xfrm>
            <a:off x="9784080" y="3081528"/>
            <a:ext cx="1645920" cy="457200"/>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784080" y="3081528"/>
            <a:ext cx="1645920" cy="457200"/>
          </a:xfrm>
          <a:prstGeom prst="rect">
            <a:avLst/>
          </a:prstGeom>
          <a:noFill/>
        </p:spPr>
        <p:txBody>
          <a:bodyPr wrap="square" anchor="ctr" lIns="0" rIns="0" tIns="0" bIns="0"/>
          <a:lstStyle/>
          <a:p>
            <a:pPr algn="ctr">
              <a:lnSpc>
                <a:spcPct val="115000"/>
              </a:lnSpc>
              <a:spcAft>
                <a:spcPts val="600"/>
              </a:spcAft>
            </a:pPr>
            <a:r>
              <a:rPr sz="1500" b="1">
                <a:solidFill>
                  <a:srgbClr val="FFFFFF"/>
                </a:solidFill>
                <a:latin typeface="IPAPGothic"/>
                <a:ea typeface="IPAPGothic"/>
                <a:cs typeface="IPAPGothic"/>
              </a:rPr>
              <a:t>ご担当者</a:t>
            </a:r>
          </a:p>
        </p:txBody>
      </p:sp>
      <p:sp>
        <p:nvSpPr>
          <p:cNvPr id="21" name="Rounded Rectangle 20"/>
          <p:cNvSpPr/>
          <p:nvPr/>
        </p:nvSpPr>
        <p:spPr>
          <a:xfrm>
            <a:off x="548640" y="3767328"/>
            <a:ext cx="11091672" cy="704088"/>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77240" y="3913632"/>
            <a:ext cx="402336" cy="402336"/>
          </a:xfrm>
          <a:prstGeom prst="roundRect">
            <a:avLst>
              <a:gd name="adj" fmla="val 15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17320" y="3767328"/>
            <a:ext cx="8138160" cy="704088"/>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スタッフ各自が設定で「翌日の予定を通知する」をオンにし、テスト通知で確かめる</a:t>
            </a:r>
          </a:p>
        </p:txBody>
      </p:sp>
      <p:sp>
        <p:nvSpPr>
          <p:cNvPr id="24" name="Rounded Rectangle 23"/>
          <p:cNvSpPr/>
          <p:nvPr/>
        </p:nvSpPr>
        <p:spPr>
          <a:xfrm>
            <a:off x="9784080" y="3895344"/>
            <a:ext cx="1645920" cy="457200"/>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84080" y="3895344"/>
            <a:ext cx="1645920" cy="457200"/>
          </a:xfrm>
          <a:prstGeom prst="rect">
            <a:avLst/>
          </a:prstGeom>
          <a:noFill/>
        </p:spPr>
        <p:txBody>
          <a:bodyPr wrap="square" anchor="ctr" lIns="0" rIns="0" tIns="0" bIns="0"/>
          <a:lstStyle/>
          <a:p>
            <a:pPr algn="ctr">
              <a:lnSpc>
                <a:spcPct val="115000"/>
              </a:lnSpc>
              <a:spcAft>
                <a:spcPts val="600"/>
              </a:spcAft>
            </a:pPr>
            <a:r>
              <a:rPr sz="1500" b="1">
                <a:solidFill>
                  <a:srgbClr val="FFFFFF"/>
                </a:solidFill>
                <a:latin typeface="IPAPGothic"/>
                <a:ea typeface="IPAPGothic"/>
                <a:cs typeface="IPAPGothic"/>
              </a:rPr>
              <a:t>各スタッフ</a:t>
            </a:r>
          </a:p>
        </p:txBody>
      </p:sp>
      <p:sp>
        <p:nvSpPr>
          <p:cNvPr id="26" name="Rounded Rectangle 25"/>
          <p:cNvSpPr/>
          <p:nvPr/>
        </p:nvSpPr>
        <p:spPr>
          <a:xfrm>
            <a:off x="548640" y="4581144"/>
            <a:ext cx="11091672" cy="70408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77240" y="4727448"/>
            <a:ext cx="402336" cy="402336"/>
          </a:xfrm>
          <a:prstGeom prst="roundRect">
            <a:avLst>
              <a:gd name="adj" fmla="val 15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417320" y="4581144"/>
            <a:ext cx="8138160" cy="704088"/>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ログイン・今日の予定・日報の保存を、事務局と数名のスタッフで確かめる</a:t>
            </a:r>
          </a:p>
        </p:txBody>
      </p:sp>
      <p:sp>
        <p:nvSpPr>
          <p:cNvPr id="29" name="Rounded Rectangle 28"/>
          <p:cNvSpPr/>
          <p:nvPr/>
        </p:nvSpPr>
        <p:spPr>
          <a:xfrm>
            <a:off x="9784080" y="4709159"/>
            <a:ext cx="1645920" cy="457200"/>
          </a:xfrm>
          <a:prstGeom prst="roundRect">
            <a:avLst>
              <a:gd name="adj" fmla="val 50000"/>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784080" y="4709159"/>
            <a:ext cx="1645920" cy="457200"/>
          </a:xfrm>
          <a:prstGeom prst="rect">
            <a:avLst/>
          </a:prstGeom>
          <a:noFill/>
        </p:spPr>
        <p:txBody>
          <a:bodyPr wrap="square" anchor="ctr" lIns="0" rIns="0" tIns="0" bIns="0"/>
          <a:lstStyle/>
          <a:p>
            <a:pPr algn="ctr">
              <a:lnSpc>
                <a:spcPct val="115000"/>
              </a:lnSpc>
              <a:spcAft>
                <a:spcPts val="600"/>
              </a:spcAft>
            </a:pPr>
            <a:r>
              <a:rPr sz="1500" b="1">
                <a:solidFill>
                  <a:srgbClr val="FFFFFF"/>
                </a:solidFill>
                <a:latin typeface="IPAPGothic"/>
                <a:ea typeface="IPAPGothic"/>
                <a:cs typeface="IPAPGothic"/>
              </a:rPr>
              <a:t>ご一緒に</a:t>
            </a:r>
          </a:p>
        </p:txBody>
      </p:sp>
      <p:sp>
        <p:nvSpPr>
          <p:cNvPr id="31" name="Rounded Rectangle 30"/>
          <p:cNvSpPr/>
          <p:nvPr/>
        </p:nvSpPr>
        <p:spPr>
          <a:xfrm>
            <a:off x="548640" y="5394960"/>
            <a:ext cx="11091672" cy="704088"/>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777240" y="5541264"/>
            <a:ext cx="402336" cy="402336"/>
          </a:xfrm>
          <a:prstGeom prst="roundRect">
            <a:avLst>
              <a:gd name="adj" fmla="val 15000"/>
            </a:avLst>
          </a:prstGeom>
          <a:solidFill>
            <a:srgbClr val="FFFFFF"/>
          </a:solidFill>
          <a:ln w="15875">
            <a:solidFill>
              <a:srgbClr val="1F8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17320" y="5394960"/>
            <a:ext cx="8138160" cy="704088"/>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翌朝、出勤簿とお客様データが夜のうちに更新されたことを確かめる</a:t>
            </a:r>
          </a:p>
        </p:txBody>
      </p:sp>
      <p:sp>
        <p:nvSpPr>
          <p:cNvPr id="34" name="Rounded Rectangle 33"/>
          <p:cNvSpPr/>
          <p:nvPr/>
        </p:nvSpPr>
        <p:spPr>
          <a:xfrm>
            <a:off x="9784080" y="5522976"/>
            <a:ext cx="1645920" cy="457200"/>
          </a:xfrm>
          <a:prstGeom prst="roundRect">
            <a:avLst>
              <a:gd name="adj" fmla="val 50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784080" y="5522976"/>
            <a:ext cx="1645920" cy="457200"/>
          </a:xfrm>
          <a:prstGeom prst="rect">
            <a:avLst/>
          </a:prstGeom>
          <a:noFill/>
        </p:spPr>
        <p:txBody>
          <a:bodyPr wrap="square" anchor="ctr" lIns="0" rIns="0" tIns="0" bIns="0"/>
          <a:lstStyle/>
          <a:p>
            <a:pPr algn="ctr">
              <a:lnSpc>
                <a:spcPct val="115000"/>
              </a:lnSpc>
              <a:spcAft>
                <a:spcPts val="600"/>
              </a:spcAft>
            </a:pPr>
            <a:r>
              <a:rPr sz="1500" b="1">
                <a:solidFill>
                  <a:srgbClr val="FFFFFF"/>
                </a:solidFill>
                <a:latin typeface="IPAPGothic"/>
                <a:ea typeface="IPAPGothic"/>
                <a:cs typeface="IPAPGothic"/>
              </a:rPr>
              <a:t>開発担当</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安心のために</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万一のときの戻し方と安心材料</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18 / 23</a:t>
            </a:r>
          </a:p>
        </p:txBody>
      </p:sp>
      <p:sp>
        <p:nvSpPr>
          <p:cNvPr id="6" name="Rounded Rectangle 5"/>
          <p:cNvSpPr/>
          <p:nvPr/>
        </p:nvSpPr>
        <p:spPr>
          <a:xfrm>
            <a:off x="548640" y="1371600"/>
            <a:ext cx="5440680" cy="16916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1645920"/>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戻</a:t>
            </a:r>
          </a:p>
        </p:txBody>
      </p:sp>
      <p:sp>
        <p:nvSpPr>
          <p:cNvPr id="8" name="TextBox 7"/>
          <p:cNvSpPr txBox="1"/>
          <p:nvPr/>
        </p:nvSpPr>
        <p:spPr>
          <a:xfrm>
            <a:off x="1737360" y="1600200"/>
            <a:ext cx="4114800" cy="54864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アプリの不具合</a:t>
            </a:r>
          </a:p>
        </p:txBody>
      </p:sp>
      <p:sp>
        <p:nvSpPr>
          <p:cNvPr id="9" name="TextBox 8"/>
          <p:cNvSpPr txBox="1"/>
          <p:nvPr/>
        </p:nvSpPr>
        <p:spPr>
          <a:xfrm>
            <a:off x="1737360" y="2148840"/>
            <a:ext cx="4114800" cy="86868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新しい版に問題があれば、ひとつ前の版にすぐ戻せます</a:t>
            </a:r>
          </a:p>
        </p:txBody>
      </p:sp>
      <p:sp>
        <p:nvSpPr>
          <p:cNvPr id="10" name="Rounded Rectangle 9"/>
          <p:cNvSpPr/>
          <p:nvPr/>
        </p:nvSpPr>
        <p:spPr>
          <a:xfrm>
            <a:off x="6153912" y="1371600"/>
            <a:ext cx="5440680" cy="16916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28231" y="1645920"/>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保</a:t>
            </a:r>
          </a:p>
        </p:txBody>
      </p:sp>
      <p:sp>
        <p:nvSpPr>
          <p:cNvPr id="12" name="TextBox 11"/>
          <p:cNvSpPr txBox="1"/>
          <p:nvPr/>
        </p:nvSpPr>
        <p:spPr>
          <a:xfrm>
            <a:off x="7342631" y="1600200"/>
            <a:ext cx="4114800" cy="54864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データのバックアップ</a:t>
            </a:r>
          </a:p>
        </p:txBody>
      </p:sp>
      <p:sp>
        <p:nvSpPr>
          <p:cNvPr id="13" name="TextBox 12"/>
          <p:cNvSpPr txBox="1"/>
          <p:nvPr/>
        </p:nvSpPr>
        <p:spPr>
          <a:xfrm>
            <a:off x="7342631" y="2148840"/>
            <a:ext cx="4114800" cy="86868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毎日自動で保存(14日分）。さらに過去7日の好きな時点に戻せます</a:t>
            </a:r>
          </a:p>
        </p:txBody>
      </p:sp>
      <p:sp>
        <p:nvSpPr>
          <p:cNvPr id="14" name="Rounded Rectangle 13"/>
          <p:cNvSpPr/>
          <p:nvPr/>
        </p:nvSpPr>
        <p:spPr>
          <a:xfrm>
            <a:off x="548640" y="3246120"/>
            <a:ext cx="5440680" cy="16916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59" y="3520439"/>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残</a:t>
            </a:r>
          </a:p>
        </p:txBody>
      </p:sp>
      <p:sp>
        <p:nvSpPr>
          <p:cNvPr id="16" name="TextBox 15"/>
          <p:cNvSpPr txBox="1"/>
          <p:nvPr/>
        </p:nvSpPr>
        <p:spPr>
          <a:xfrm>
            <a:off x="1737360" y="3474720"/>
            <a:ext cx="4114800" cy="54864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今のアプリはすぐには消しません</a:t>
            </a:r>
          </a:p>
        </p:txBody>
      </p:sp>
      <p:sp>
        <p:nvSpPr>
          <p:cNvPr id="17" name="TextBox 16"/>
          <p:cNvSpPr txBox="1"/>
          <p:nvPr/>
        </p:nvSpPr>
        <p:spPr>
          <a:xfrm>
            <a:off x="1737360" y="4023359"/>
            <a:ext cx="4114800" cy="86868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慣れるまで残し、止めた夜の処理も元に戻せます。戻す手順は切替前に一緒に確かめます</a:t>
            </a:r>
          </a:p>
        </p:txBody>
      </p:sp>
      <p:sp>
        <p:nvSpPr>
          <p:cNvPr id="18" name="Rounded Rectangle 17"/>
          <p:cNvSpPr/>
          <p:nvPr/>
        </p:nvSpPr>
        <p:spPr>
          <a:xfrm>
            <a:off x="6153912" y="3246120"/>
            <a:ext cx="5440680" cy="1691640"/>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28231" y="3520439"/>
            <a:ext cx="731520" cy="7315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IPAPGothic"/>
                <a:ea typeface="IPAPGothic"/>
                <a:cs typeface="IPAPGothic"/>
              </a:rPr>
              <a:t>写</a:t>
            </a:r>
          </a:p>
        </p:txBody>
      </p:sp>
      <p:sp>
        <p:nvSpPr>
          <p:cNvPr id="20" name="TextBox 19"/>
          <p:cNvSpPr txBox="1"/>
          <p:nvPr/>
        </p:nvSpPr>
        <p:spPr>
          <a:xfrm>
            <a:off x="7342631" y="3474720"/>
            <a:ext cx="4114800" cy="54864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シートへの書き写し（選べます）</a:t>
            </a:r>
          </a:p>
        </p:txBody>
      </p:sp>
      <p:sp>
        <p:nvSpPr>
          <p:cNvPr id="21" name="TextBox 20"/>
          <p:cNvSpPr txBox="1"/>
          <p:nvPr/>
        </p:nvSpPr>
        <p:spPr>
          <a:xfrm>
            <a:off x="7342631" y="4023359"/>
            <a:ext cx="4114800" cy="868680"/>
          </a:xfrm>
          <a:prstGeom prst="rect">
            <a:avLst/>
          </a:prstGeom>
          <a:noFill/>
        </p:spPr>
        <p:txBody>
          <a:bodyPr wrap="square" anchor="t" lIns="0" rIns="0" tIns="0" bIns="0"/>
          <a:lstStyle/>
          <a:p>
            <a:pPr algn="l">
              <a:lnSpc>
                <a:spcPct val="120000"/>
              </a:lnSpc>
              <a:spcAft>
                <a:spcPts val="600"/>
              </a:spcAft>
            </a:pPr>
            <a:r>
              <a:rPr sz="1600" b="0">
                <a:solidFill>
                  <a:srgbClr val="1F2D33"/>
                </a:solidFill>
                <a:latin typeface="IPAPGothic"/>
                <a:ea typeface="IPAPGothic"/>
                <a:cs typeface="IPAPGothic"/>
              </a:rPr>
              <a:t>続ければ、切替後の記録もスプレッドシートで見られます（見るだけの写し。今のアプリ側の準備が必要です）</a:t>
            </a:r>
          </a:p>
        </p:txBody>
      </p:sp>
      <p:sp>
        <p:nvSpPr>
          <p:cNvPr id="22" name="Rounded Rectangle 21"/>
          <p:cNvSpPr/>
          <p:nvPr/>
        </p:nvSpPr>
        <p:spPr>
          <a:xfrm>
            <a:off x="548640" y="5212080"/>
            <a:ext cx="11091672" cy="960120"/>
          </a:xfrm>
          <a:prstGeom prst="roundRect">
            <a:avLst>
              <a:gd name="adj" fmla="val 8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5212080"/>
            <a:ext cx="10607040" cy="960120"/>
          </a:xfrm>
          <a:prstGeom prst="rect">
            <a:avLst/>
          </a:prstGeom>
          <a:noFill/>
        </p:spPr>
        <p:txBody>
          <a:bodyPr wrap="square" anchor="ctr" lIns="0" rIns="0" tIns="0" bIns="0"/>
          <a:lstStyle/>
          <a:p>
            <a:pPr algn="l">
              <a:lnSpc>
                <a:spcPct val="115000"/>
              </a:lnSpc>
              <a:spcAft>
                <a:spcPts val="600"/>
              </a:spcAft>
            </a:pPr>
            <a:r>
              <a:rPr sz="1800" b="1">
                <a:solidFill>
                  <a:srgbClr val="FFFFFF"/>
                </a:solidFill>
                <a:latin typeface="IPAPGothic"/>
                <a:ea typeface="IPAPGothic"/>
                <a:cs typeface="IPAPGothic"/>
              </a:rPr>
              <a:t>計算は今のアプリのプログラムと突き合わせ、ログインから日報・出勤簿までの操作は自動で通して確かめています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ご協力のお願い</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キューテスト様にお願いしたいこと</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19 / 23</a:t>
            </a:r>
          </a:p>
        </p:txBody>
      </p:sp>
      <p:sp>
        <p:nvSpPr>
          <p:cNvPr id="6" name="Oval 5"/>
          <p:cNvSpPr/>
          <p:nvPr/>
        </p:nvSpPr>
        <p:spPr>
          <a:xfrm>
            <a:off x="640080" y="1481328"/>
            <a:ext cx="603504" cy="60350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1</a:t>
            </a:r>
          </a:p>
        </p:txBody>
      </p:sp>
      <p:sp>
        <p:nvSpPr>
          <p:cNvPr id="7" name="TextBox 6"/>
          <p:cNvSpPr txBox="1"/>
          <p:nvPr/>
        </p:nvSpPr>
        <p:spPr>
          <a:xfrm>
            <a:off x="1463040" y="1371600"/>
            <a:ext cx="4206240" cy="82296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ご担当者を決める</a:t>
            </a:r>
          </a:p>
        </p:txBody>
      </p:sp>
      <p:sp>
        <p:nvSpPr>
          <p:cNvPr id="8" name="TextBox 7"/>
          <p:cNvSpPr txBox="1"/>
          <p:nvPr/>
        </p:nvSpPr>
        <p:spPr>
          <a:xfrm>
            <a:off x="5669280" y="1371600"/>
            <a:ext cx="5943600" cy="822960"/>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事務局ご担当者（切替日の連絡窓口・スタッフへのご案内役）</a:t>
            </a:r>
          </a:p>
        </p:txBody>
      </p:sp>
      <p:cxnSp>
        <p:nvCxnSpPr>
          <p:cNvPr id="9" name="Connector 8"/>
          <p:cNvCxnSpPr/>
          <p:nvPr/>
        </p:nvCxnSpPr>
        <p:spPr>
          <a:xfrm>
            <a:off x="1463040" y="2267712"/>
            <a:ext cx="10149840" cy="0"/>
          </a:xfrm>
          <a:prstGeom prst="line">
            <a:avLst/>
          </a:prstGeom>
          <a:ln w="12700">
            <a:solidFill>
              <a:srgbClr val="C9DED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40080" y="2423160"/>
            <a:ext cx="603504" cy="60350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2</a:t>
            </a:r>
          </a:p>
        </p:txBody>
      </p:sp>
      <p:sp>
        <p:nvSpPr>
          <p:cNvPr id="11" name="TextBox 10"/>
          <p:cNvSpPr txBox="1"/>
          <p:nvPr/>
        </p:nvSpPr>
        <p:spPr>
          <a:xfrm>
            <a:off x="1463040" y="2313432"/>
            <a:ext cx="4206240" cy="82296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スタッフ台帳の確認</a:t>
            </a:r>
          </a:p>
        </p:txBody>
      </p:sp>
      <p:sp>
        <p:nvSpPr>
          <p:cNvPr id="12" name="TextBox 11"/>
          <p:cNvSpPr txBox="1"/>
          <p:nvPr/>
        </p:nvSpPr>
        <p:spPr>
          <a:xfrm>
            <a:off x="5669280" y="2313432"/>
            <a:ext cx="5943600" cy="822960"/>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在籍・退職日・メールアドレス・管理者の方が正しいか</a:t>
            </a:r>
          </a:p>
        </p:txBody>
      </p:sp>
      <p:cxnSp>
        <p:nvCxnSpPr>
          <p:cNvPr id="13" name="Connector 12"/>
          <p:cNvCxnSpPr/>
          <p:nvPr/>
        </p:nvCxnSpPr>
        <p:spPr>
          <a:xfrm>
            <a:off x="1463040" y="3209544"/>
            <a:ext cx="10149840" cy="0"/>
          </a:xfrm>
          <a:prstGeom prst="line">
            <a:avLst/>
          </a:prstGeom>
          <a:ln w="12700">
            <a:solidFill>
              <a:srgbClr val="C9DEDC"/>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40080" y="3364992"/>
            <a:ext cx="603504" cy="60350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3</a:t>
            </a:r>
          </a:p>
        </p:txBody>
      </p:sp>
      <p:sp>
        <p:nvSpPr>
          <p:cNvPr id="15" name="TextBox 14"/>
          <p:cNvSpPr txBox="1"/>
          <p:nvPr/>
        </p:nvSpPr>
        <p:spPr>
          <a:xfrm>
            <a:off x="1463040" y="3255264"/>
            <a:ext cx="4206240" cy="82296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お客様CSVとカレンダーの共有</a:t>
            </a:r>
          </a:p>
        </p:txBody>
      </p:sp>
      <p:sp>
        <p:nvSpPr>
          <p:cNvPr id="16" name="TextBox 15"/>
          <p:cNvSpPr txBox="1"/>
          <p:nvPr/>
        </p:nvSpPr>
        <p:spPr>
          <a:xfrm>
            <a:off x="5669280" y="3255264"/>
            <a:ext cx="5943600" cy="822960"/>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新しいアプリが読めるよう、共有の設定にご協力ください</a:t>
            </a:r>
          </a:p>
        </p:txBody>
      </p:sp>
      <p:cxnSp>
        <p:nvCxnSpPr>
          <p:cNvPr id="17" name="Connector 16"/>
          <p:cNvCxnSpPr/>
          <p:nvPr/>
        </p:nvCxnSpPr>
        <p:spPr>
          <a:xfrm>
            <a:off x="1463040" y="4151376"/>
            <a:ext cx="10149840" cy="0"/>
          </a:xfrm>
          <a:prstGeom prst="line">
            <a:avLst/>
          </a:prstGeom>
          <a:ln w="12700">
            <a:solidFill>
              <a:srgbClr val="C9DEDC"/>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40080" y="4306824"/>
            <a:ext cx="603504" cy="60350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4</a:t>
            </a:r>
          </a:p>
        </p:txBody>
      </p:sp>
      <p:sp>
        <p:nvSpPr>
          <p:cNvPr id="19" name="TextBox 18"/>
          <p:cNvSpPr txBox="1"/>
          <p:nvPr/>
        </p:nvSpPr>
        <p:spPr>
          <a:xfrm>
            <a:off x="1463040" y="4197096"/>
            <a:ext cx="4206240" cy="82296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シートの写しを続ける期間</a:t>
            </a:r>
          </a:p>
        </p:txBody>
      </p:sp>
      <p:sp>
        <p:nvSpPr>
          <p:cNvPr id="20" name="TextBox 19"/>
          <p:cNvSpPr txBox="1"/>
          <p:nvPr/>
        </p:nvSpPr>
        <p:spPr>
          <a:xfrm>
            <a:off x="5669280" y="4197096"/>
            <a:ext cx="5943600" cy="822960"/>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切替後もスプレッドシートで見たいもの（日報・領収書・出勤簿）と、続ける期間</a:t>
            </a:r>
          </a:p>
        </p:txBody>
      </p:sp>
      <p:cxnSp>
        <p:nvCxnSpPr>
          <p:cNvPr id="21" name="Connector 20"/>
          <p:cNvCxnSpPr/>
          <p:nvPr/>
        </p:nvCxnSpPr>
        <p:spPr>
          <a:xfrm>
            <a:off x="1463040" y="5093208"/>
            <a:ext cx="10149840" cy="0"/>
          </a:xfrm>
          <a:prstGeom prst="line">
            <a:avLst/>
          </a:prstGeom>
          <a:ln w="12700">
            <a:solidFill>
              <a:srgbClr val="C9DEDC"/>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40080" y="5248656"/>
            <a:ext cx="603504" cy="60350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IPAPGothic"/>
                <a:ea typeface="IPAPGothic"/>
                <a:cs typeface="IPAPGothic"/>
              </a:rPr>
              <a:t>5</a:t>
            </a:r>
          </a:p>
        </p:txBody>
      </p:sp>
      <p:sp>
        <p:nvSpPr>
          <p:cNvPr id="23" name="TextBox 22"/>
          <p:cNvSpPr txBox="1"/>
          <p:nvPr/>
        </p:nvSpPr>
        <p:spPr>
          <a:xfrm>
            <a:off x="1463040" y="5138928"/>
            <a:ext cx="4206240" cy="822960"/>
          </a:xfrm>
          <a:prstGeom prst="rect">
            <a:avLst/>
          </a:prstGeom>
          <a:noFill/>
        </p:spPr>
        <p:txBody>
          <a:bodyPr wrap="square" anchor="ctr" lIns="0" rIns="0" tIns="0" bIns="0"/>
          <a:lstStyle/>
          <a:p>
            <a:pPr algn="l">
              <a:lnSpc>
                <a:spcPct val="115000"/>
              </a:lnSpc>
              <a:spcAft>
                <a:spcPts val="600"/>
              </a:spcAft>
            </a:pPr>
            <a:r>
              <a:rPr sz="2100" b="1">
                <a:solidFill>
                  <a:srgbClr val="0E4F5C"/>
                </a:solidFill>
                <a:latin typeface="IPAPGothic"/>
                <a:ea typeface="IPAPGothic"/>
                <a:cs typeface="IPAPGothic"/>
              </a:rPr>
              <a:t>切替日の調整とスタッフへの周知</a:t>
            </a:r>
          </a:p>
        </p:txBody>
      </p:sp>
      <p:sp>
        <p:nvSpPr>
          <p:cNvPr id="24" name="TextBox 23"/>
          <p:cNvSpPr txBox="1"/>
          <p:nvPr/>
        </p:nvSpPr>
        <p:spPr>
          <a:xfrm>
            <a:off x="5669280" y="5138928"/>
            <a:ext cx="5943600" cy="822960"/>
          </a:xfrm>
          <a:prstGeom prst="rect">
            <a:avLst/>
          </a:prstGeom>
          <a:noFill/>
        </p:spPr>
        <p:txBody>
          <a:bodyPr wrap="square" anchor="ctr" lIns="0" rIns="0" tIns="0" bIns="0"/>
          <a:lstStyle/>
          <a:p>
            <a:pPr algn="l">
              <a:lnSpc>
                <a:spcPct val="115000"/>
              </a:lnSpc>
              <a:spcAft>
                <a:spcPts val="600"/>
              </a:spcAft>
            </a:pPr>
            <a:r>
              <a:rPr sz="1700" b="0">
                <a:solidFill>
                  <a:srgbClr val="1F2D33"/>
                </a:solidFill>
                <a:latin typeface="IPAPGothic"/>
                <a:ea typeface="IPAPGothic"/>
                <a:cs typeface="IPAPGothic"/>
              </a:rPr>
              <a:t>新しいURL・ホーム画面への追加・スマホの通知のオンのしかた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費用</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費用の目安（毎月のクラウド利用料）</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20 / 23</a:t>
            </a:r>
          </a:p>
        </p:txBody>
      </p:sp>
      <p:sp>
        <p:nvSpPr>
          <p:cNvPr id="6" name="Rounded Rectangle 5"/>
          <p:cNvSpPr/>
          <p:nvPr/>
        </p:nvSpPr>
        <p:spPr>
          <a:xfrm>
            <a:off x="548640" y="1371600"/>
            <a:ext cx="4572000" cy="4206240"/>
          </a:xfrm>
          <a:prstGeom prst="roundRect">
            <a:avLst>
              <a:gd name="adj" fmla="val 8000"/>
            </a:avLst>
          </a:prstGeom>
          <a:solidFill>
            <a:srgbClr val="0E4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600200"/>
            <a:ext cx="4023360" cy="457200"/>
          </a:xfrm>
          <a:prstGeom prst="rect">
            <a:avLst/>
          </a:prstGeom>
          <a:noFill/>
        </p:spPr>
        <p:txBody>
          <a:bodyPr wrap="square" anchor="t" lIns="0" rIns="0" tIns="0" bIns="0"/>
          <a:lstStyle/>
          <a:p>
            <a:pPr algn="l">
              <a:lnSpc>
                <a:spcPct val="115000"/>
              </a:lnSpc>
              <a:spcAft>
                <a:spcPts val="600"/>
              </a:spcAft>
            </a:pPr>
            <a:r>
              <a:rPr sz="2000" b="1">
                <a:solidFill>
                  <a:srgbClr val="CFEBE8"/>
                </a:solidFill>
                <a:latin typeface="IPAPGothic"/>
                <a:ea typeface="IPAPGothic"/>
                <a:cs typeface="IPAPGothic"/>
              </a:rPr>
              <a:t>月額の目安</a:t>
            </a:r>
          </a:p>
        </p:txBody>
      </p:sp>
      <p:sp>
        <p:nvSpPr>
          <p:cNvPr id="8" name="TextBox 7"/>
          <p:cNvSpPr txBox="1"/>
          <p:nvPr/>
        </p:nvSpPr>
        <p:spPr>
          <a:xfrm>
            <a:off x="822960" y="2148840"/>
            <a:ext cx="4023360" cy="1097280"/>
          </a:xfrm>
          <a:prstGeom prst="rect">
            <a:avLst/>
          </a:prstGeom>
          <a:noFill/>
        </p:spPr>
        <p:txBody>
          <a:bodyPr wrap="square" anchor="t" lIns="0" rIns="0" tIns="0" bIns="0"/>
          <a:lstStyle/>
          <a:p>
            <a:pPr algn="l">
              <a:lnSpc>
                <a:spcPct val="115000"/>
              </a:lnSpc>
              <a:spcAft>
                <a:spcPts val="600"/>
              </a:spcAft>
            </a:pPr>
            <a:r>
              <a:rPr sz="2400" b="1">
                <a:solidFill>
                  <a:srgbClr val="FFFFFF"/>
                </a:solidFill>
                <a:latin typeface="IPAPGothic"/>
                <a:ea typeface="IPAPGothic"/>
                <a:cs typeface="IPAPGothic"/>
              </a:rPr>
              <a:t>約</a:t>
            </a:r>
            <a:r>
              <a:rPr sz="3200" b="1">
                <a:solidFill>
                  <a:srgbClr val="FFFFFF"/>
                </a:solidFill>
                <a:latin typeface="IPAPGothic"/>
                <a:ea typeface="IPAPGothic"/>
                <a:cs typeface="IPAPGothic"/>
              </a:rPr>
              <a:t>2,100〜4,700</a:t>
            </a:r>
            <a:r>
              <a:rPr sz="2400" b="1">
                <a:solidFill>
                  <a:srgbClr val="FFFFFF"/>
                </a:solidFill>
                <a:latin typeface="IPAPGothic"/>
                <a:ea typeface="IPAPGothic"/>
                <a:cs typeface="IPAPGothic"/>
              </a:rPr>
              <a:t>円</a:t>
            </a:r>
          </a:p>
        </p:txBody>
      </p:sp>
      <p:sp>
        <p:nvSpPr>
          <p:cNvPr id="9" name="TextBox 8"/>
          <p:cNvSpPr txBox="1"/>
          <p:nvPr/>
        </p:nvSpPr>
        <p:spPr>
          <a:xfrm>
            <a:off x="822960" y="3246120"/>
            <a:ext cx="4023360" cy="457200"/>
          </a:xfrm>
          <a:prstGeom prst="rect">
            <a:avLst/>
          </a:prstGeom>
          <a:noFill/>
        </p:spPr>
        <p:txBody>
          <a:bodyPr wrap="square" anchor="t" lIns="0" rIns="0" tIns="0" bIns="0"/>
          <a:lstStyle/>
          <a:p>
            <a:pPr algn="l">
              <a:lnSpc>
                <a:spcPct val="115000"/>
              </a:lnSpc>
              <a:spcAft>
                <a:spcPts val="600"/>
              </a:spcAft>
            </a:pPr>
            <a:r>
              <a:rPr sz="2000" b="0">
                <a:solidFill>
                  <a:srgbClr val="FFFFFF"/>
                </a:solidFill>
                <a:latin typeface="IPAPGothic"/>
                <a:ea typeface="IPAPGothic"/>
                <a:cs typeface="IPAPGothic"/>
              </a:rPr>
              <a:t>（約14〜31ドル）</a:t>
            </a:r>
          </a:p>
        </p:txBody>
      </p:sp>
      <p:sp>
        <p:nvSpPr>
          <p:cNvPr id="10" name="TextBox 9"/>
          <p:cNvSpPr txBox="1"/>
          <p:nvPr/>
        </p:nvSpPr>
        <p:spPr>
          <a:xfrm>
            <a:off x="822960" y="3931920"/>
            <a:ext cx="4023360" cy="1554480"/>
          </a:xfrm>
          <a:prstGeom prst="rect">
            <a:avLst/>
          </a:prstGeom>
          <a:noFill/>
        </p:spPr>
        <p:txBody>
          <a:bodyPr wrap="square" anchor="t" lIns="0" rIns="0" tIns="0" bIns="0"/>
          <a:lstStyle/>
          <a:p>
            <a:pPr algn="l">
              <a:lnSpc>
                <a:spcPct val="125000"/>
              </a:lnSpc>
              <a:spcAft>
                <a:spcPts val="600"/>
              </a:spcAft>
            </a:pPr>
            <a:r>
              <a:rPr sz="1600" b="0">
                <a:solidFill>
                  <a:srgbClr val="CFEBE8"/>
                </a:solidFill>
                <a:latin typeface="IPAPGothic"/>
                <a:ea typeface="IPAPGothic"/>
                <a:cs typeface="IPAPGothic"/>
              </a:rPr>
              <a:t>1ドル=150円で換算した概算です。</a:t>
            </a:r>
          </a:p>
          <a:p>
            <a:pPr algn="l">
              <a:lnSpc>
                <a:spcPct val="125000"/>
              </a:lnSpc>
              <a:spcAft>
                <a:spcPts val="600"/>
              </a:spcAft>
            </a:pPr>
            <a:r>
              <a:rPr sz="1600" b="0">
                <a:solidFill>
                  <a:srgbClr val="CFEBE8"/>
                </a:solidFill>
                <a:latin typeface="IPAPGothic"/>
                <a:ea typeface="IPAPGothic"/>
                <a:cs typeface="IPAPGothic"/>
              </a:rPr>
              <a:t>AIの利用料（見込み）を含みます。</a:t>
            </a:r>
          </a:p>
        </p:txBody>
      </p:sp>
      <p:sp>
        <p:nvSpPr>
          <p:cNvPr id="11" name="Rounded Rectangle 10"/>
          <p:cNvSpPr/>
          <p:nvPr/>
        </p:nvSpPr>
        <p:spPr>
          <a:xfrm>
            <a:off x="5394960" y="1371600"/>
            <a:ext cx="6245352" cy="621792"/>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77840" y="1371600"/>
            <a:ext cx="3840480" cy="621792"/>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データベース</a:t>
            </a:r>
          </a:p>
        </p:txBody>
      </p:sp>
      <p:sp>
        <p:nvSpPr>
          <p:cNvPr id="13" name="TextBox 12"/>
          <p:cNvSpPr txBox="1"/>
          <p:nvPr/>
        </p:nvSpPr>
        <p:spPr>
          <a:xfrm>
            <a:off x="9326880" y="1371600"/>
            <a:ext cx="2194560" cy="621792"/>
          </a:xfrm>
          <a:prstGeom prst="rect">
            <a:avLst/>
          </a:prstGeom>
          <a:noFill/>
        </p:spPr>
        <p:txBody>
          <a:bodyPr wrap="square" anchor="ctr" lIns="0" rIns="0" tIns="0" bIns="0"/>
          <a:lstStyle/>
          <a:p>
            <a:pPr algn="r">
              <a:lnSpc>
                <a:spcPct val="115000"/>
              </a:lnSpc>
              <a:spcAft>
                <a:spcPts val="600"/>
              </a:spcAft>
            </a:pPr>
            <a:r>
              <a:rPr sz="1600" b="1">
                <a:solidFill>
                  <a:srgbClr val="0E4F5C"/>
                </a:solidFill>
                <a:latin typeface="IPAPGothic"/>
                <a:ea typeface="IPAPGothic"/>
                <a:cs typeface="IPAPGothic"/>
              </a:rPr>
              <a:t>12〜14ドル</a:t>
            </a:r>
          </a:p>
        </p:txBody>
      </p:sp>
      <p:sp>
        <p:nvSpPr>
          <p:cNvPr id="14" name="Rounded Rectangle 13"/>
          <p:cNvSpPr/>
          <p:nvPr/>
        </p:nvSpPr>
        <p:spPr>
          <a:xfrm>
            <a:off x="5394960" y="2103120"/>
            <a:ext cx="6245352" cy="621792"/>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577840" y="2103120"/>
            <a:ext cx="3840480" cy="621792"/>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書き写し・メール・通知の送信</a:t>
            </a:r>
          </a:p>
        </p:txBody>
      </p:sp>
      <p:sp>
        <p:nvSpPr>
          <p:cNvPr id="16" name="TextBox 15"/>
          <p:cNvSpPr txBox="1"/>
          <p:nvPr/>
        </p:nvSpPr>
        <p:spPr>
          <a:xfrm>
            <a:off x="9326880" y="2103120"/>
            <a:ext cx="2194560" cy="621792"/>
          </a:xfrm>
          <a:prstGeom prst="rect">
            <a:avLst/>
          </a:prstGeom>
          <a:noFill/>
        </p:spPr>
        <p:txBody>
          <a:bodyPr wrap="square" anchor="ctr" lIns="0" rIns="0" tIns="0" bIns="0"/>
          <a:lstStyle/>
          <a:p>
            <a:pPr algn="r">
              <a:lnSpc>
                <a:spcPct val="115000"/>
              </a:lnSpc>
              <a:spcAft>
                <a:spcPts val="600"/>
              </a:spcAft>
            </a:pPr>
            <a:r>
              <a:rPr sz="1600" b="1">
                <a:solidFill>
                  <a:srgbClr val="0E4F5C"/>
                </a:solidFill>
                <a:latin typeface="IPAPGothic"/>
                <a:ea typeface="IPAPGothic"/>
                <a:cs typeface="IPAPGothic"/>
              </a:rPr>
              <a:t>0〜3ドル</a:t>
            </a:r>
          </a:p>
        </p:txBody>
      </p:sp>
      <p:sp>
        <p:nvSpPr>
          <p:cNvPr id="17" name="Rounded Rectangle 16"/>
          <p:cNvSpPr/>
          <p:nvPr/>
        </p:nvSpPr>
        <p:spPr>
          <a:xfrm>
            <a:off x="5394960" y="2834640"/>
            <a:ext cx="6245352" cy="621792"/>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577840" y="2834640"/>
            <a:ext cx="3840480" cy="621792"/>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アプリ本体・夜の処理・保管など</a:t>
            </a:r>
          </a:p>
        </p:txBody>
      </p:sp>
      <p:sp>
        <p:nvSpPr>
          <p:cNvPr id="19" name="TextBox 18"/>
          <p:cNvSpPr txBox="1"/>
          <p:nvPr/>
        </p:nvSpPr>
        <p:spPr>
          <a:xfrm>
            <a:off x="9326880" y="2834640"/>
            <a:ext cx="2194560" cy="621792"/>
          </a:xfrm>
          <a:prstGeom prst="rect">
            <a:avLst/>
          </a:prstGeom>
          <a:noFill/>
        </p:spPr>
        <p:txBody>
          <a:bodyPr wrap="square" anchor="ctr" lIns="0" rIns="0" tIns="0" bIns="0"/>
          <a:lstStyle/>
          <a:p>
            <a:pPr algn="r">
              <a:lnSpc>
                <a:spcPct val="115000"/>
              </a:lnSpc>
              <a:spcAft>
                <a:spcPts val="600"/>
              </a:spcAft>
            </a:pPr>
            <a:r>
              <a:rPr sz="1600" b="1">
                <a:solidFill>
                  <a:srgbClr val="0E4F5C"/>
                </a:solidFill>
                <a:latin typeface="IPAPGothic"/>
                <a:ea typeface="IPAPGothic"/>
                <a:cs typeface="IPAPGothic"/>
              </a:rPr>
              <a:t>0〜7ドル</a:t>
            </a:r>
          </a:p>
        </p:txBody>
      </p:sp>
      <p:sp>
        <p:nvSpPr>
          <p:cNvPr id="20" name="Rounded Rectangle 19"/>
          <p:cNvSpPr/>
          <p:nvPr/>
        </p:nvSpPr>
        <p:spPr>
          <a:xfrm>
            <a:off x="5394960" y="3566160"/>
            <a:ext cx="6245352" cy="621792"/>
          </a:xfrm>
          <a:prstGeom prst="roundRect">
            <a:avLst>
              <a:gd name="adj" fmla="val 8000"/>
            </a:avLst>
          </a:prstGeom>
          <a:solidFill>
            <a:srgbClr val="FFFFFF"/>
          </a:solidFill>
          <a:ln w="15875">
            <a:solidFill>
              <a:srgbClr val="C9DE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577840" y="3566160"/>
            <a:ext cx="3840480" cy="621792"/>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地図（道順）</a:t>
            </a:r>
          </a:p>
        </p:txBody>
      </p:sp>
      <p:sp>
        <p:nvSpPr>
          <p:cNvPr id="22" name="TextBox 21"/>
          <p:cNvSpPr txBox="1"/>
          <p:nvPr/>
        </p:nvSpPr>
        <p:spPr>
          <a:xfrm>
            <a:off x="9326880" y="3566160"/>
            <a:ext cx="2194560" cy="621792"/>
          </a:xfrm>
          <a:prstGeom prst="rect">
            <a:avLst/>
          </a:prstGeom>
          <a:noFill/>
        </p:spPr>
        <p:txBody>
          <a:bodyPr wrap="square" anchor="ctr" lIns="0" rIns="0" tIns="0" bIns="0"/>
          <a:lstStyle/>
          <a:p>
            <a:pPr algn="r">
              <a:lnSpc>
                <a:spcPct val="115000"/>
              </a:lnSpc>
              <a:spcAft>
                <a:spcPts val="600"/>
              </a:spcAft>
            </a:pPr>
            <a:r>
              <a:rPr sz="1600" b="1">
                <a:solidFill>
                  <a:srgbClr val="0E4F5C"/>
                </a:solidFill>
                <a:latin typeface="IPAPGothic"/>
                <a:ea typeface="IPAPGothic"/>
                <a:cs typeface="IPAPGothic"/>
              </a:rPr>
              <a:t>無料枠内の見込み</a:t>
            </a:r>
          </a:p>
        </p:txBody>
      </p:sp>
      <p:sp>
        <p:nvSpPr>
          <p:cNvPr id="23" name="Rounded Rectangle 22"/>
          <p:cNvSpPr/>
          <p:nvPr/>
        </p:nvSpPr>
        <p:spPr>
          <a:xfrm>
            <a:off x="5394960" y="4297680"/>
            <a:ext cx="6245352" cy="621792"/>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577840" y="4297680"/>
            <a:ext cx="3840480" cy="621792"/>
          </a:xfrm>
          <a:prstGeom prst="rect">
            <a:avLst/>
          </a:prstGeom>
          <a:noFill/>
        </p:spPr>
        <p:txBody>
          <a:bodyPr wrap="square" anchor="ctr" lIns="0" rIns="0" tIns="0" bIns="0"/>
          <a:lstStyle/>
          <a:p>
            <a:pPr algn="l">
              <a:lnSpc>
                <a:spcPct val="115000"/>
              </a:lnSpc>
              <a:spcAft>
                <a:spcPts val="600"/>
              </a:spcAft>
            </a:pPr>
            <a:r>
              <a:rPr sz="1600" b="0">
                <a:solidFill>
                  <a:srgbClr val="1F2D33"/>
                </a:solidFill>
                <a:latin typeface="IPAPGothic"/>
                <a:ea typeface="IPAPGothic"/>
                <a:cs typeface="IPAPGothic"/>
              </a:rPr>
              <a:t>AI（日報の下書き・領収書の読み取り）</a:t>
            </a:r>
          </a:p>
        </p:txBody>
      </p:sp>
      <p:sp>
        <p:nvSpPr>
          <p:cNvPr id="25" name="TextBox 24"/>
          <p:cNvSpPr txBox="1"/>
          <p:nvPr/>
        </p:nvSpPr>
        <p:spPr>
          <a:xfrm>
            <a:off x="9326880" y="4297680"/>
            <a:ext cx="2194560" cy="621792"/>
          </a:xfrm>
          <a:prstGeom prst="rect">
            <a:avLst/>
          </a:prstGeom>
          <a:noFill/>
        </p:spPr>
        <p:txBody>
          <a:bodyPr wrap="square" anchor="ctr" lIns="0" rIns="0" tIns="0" bIns="0"/>
          <a:lstStyle/>
          <a:p>
            <a:pPr algn="r">
              <a:lnSpc>
                <a:spcPct val="115000"/>
              </a:lnSpc>
              <a:spcAft>
                <a:spcPts val="600"/>
              </a:spcAft>
            </a:pPr>
            <a:r>
              <a:rPr sz="1600" b="1">
                <a:solidFill>
                  <a:srgbClr val="0E4F5C"/>
                </a:solidFill>
                <a:latin typeface="IPAPGothic"/>
                <a:ea typeface="IPAPGothic"/>
                <a:cs typeface="IPAPGothic"/>
              </a:rPr>
              <a:t>2〜8ドル</a:t>
            </a:r>
          </a:p>
        </p:txBody>
      </p:sp>
      <p:sp>
        <p:nvSpPr>
          <p:cNvPr id="26" name="TextBox 25"/>
          <p:cNvSpPr txBox="1"/>
          <p:nvPr/>
        </p:nvSpPr>
        <p:spPr>
          <a:xfrm>
            <a:off x="5394960" y="5074920"/>
            <a:ext cx="6245352" cy="548640"/>
          </a:xfrm>
          <a:prstGeom prst="rect">
            <a:avLst/>
          </a:prstGeom>
          <a:noFill/>
        </p:spPr>
        <p:txBody>
          <a:bodyPr wrap="square" anchor="t" lIns="0" rIns="0" tIns="0" bIns="0"/>
          <a:lstStyle/>
          <a:p>
            <a:pPr algn="l">
              <a:lnSpc>
                <a:spcPct val="120000"/>
              </a:lnSpc>
              <a:spcAft>
                <a:spcPts val="600"/>
              </a:spcAft>
            </a:pPr>
            <a:r>
              <a:rPr sz="1500" b="0">
                <a:solidFill>
                  <a:srgbClr val="5B6B70"/>
                </a:solidFill>
                <a:latin typeface="IPAPGothic"/>
                <a:ea typeface="IPAPGothic"/>
                <a:cs typeface="IPAPGothic"/>
              </a:rPr>
              <a:t>使いすぎを防ぐため、月1万円の予算に近づくとメールで知らせる設定も用意しています。</a:t>
            </a:r>
          </a:p>
        </p:txBody>
      </p:sp>
      <p:sp>
        <p:nvSpPr>
          <p:cNvPr id="27" name="TextBox 26"/>
          <p:cNvSpPr txBox="1"/>
          <p:nvPr/>
        </p:nvSpPr>
        <p:spPr>
          <a:xfrm>
            <a:off x="548640" y="5806440"/>
            <a:ext cx="11064240" cy="457200"/>
          </a:xfrm>
          <a:prstGeom prst="rect">
            <a:avLst/>
          </a:prstGeom>
          <a:noFill/>
        </p:spPr>
        <p:txBody>
          <a:bodyPr wrap="square" anchor="t" lIns="0" rIns="0" tIns="0" bIns="0"/>
          <a:lstStyle/>
          <a:p>
            <a:pPr algn="l">
              <a:lnSpc>
                <a:spcPct val="115000"/>
              </a:lnSpc>
              <a:spcAft>
                <a:spcPts val="600"/>
              </a:spcAft>
            </a:pPr>
            <a:r>
              <a:rPr sz="1400" b="0">
                <a:solidFill>
                  <a:srgbClr val="5B6B70"/>
                </a:solidFill>
                <a:latin typeface="IPAPGothic"/>
                <a:ea typeface="IPAPGothic"/>
                <a:cs typeface="IPAPGothic"/>
              </a:rPr>
              <a:t>※ 2026年9月27日時点の料金表からの見込み（目安）です。料金は変わることがあるため、本番の運用を始める前に確かめ直します。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Q&amp;A</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よくあるご質問(1)</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21 / 23</a:t>
            </a:r>
          </a:p>
        </p:txBody>
      </p:sp>
      <p:sp>
        <p:nvSpPr>
          <p:cNvPr id="6" name="Rounded Rectangle 5"/>
          <p:cNvSpPr/>
          <p:nvPr/>
        </p:nvSpPr>
        <p:spPr>
          <a:xfrm>
            <a:off x="548640" y="1371600"/>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481328"/>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8" name="TextBox 7"/>
          <p:cNvSpPr txBox="1"/>
          <p:nvPr/>
        </p:nvSpPr>
        <p:spPr>
          <a:xfrm>
            <a:off x="1554480" y="1444752"/>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スタッフのログインは変わりますか?</a:t>
            </a:r>
          </a:p>
        </p:txBody>
      </p:sp>
      <p:sp>
        <p:nvSpPr>
          <p:cNvPr id="9" name="TextBox 8"/>
          <p:cNvSpPr txBox="1"/>
          <p:nvPr/>
        </p:nvSpPr>
        <p:spPr>
          <a:xfrm>
            <a:off x="1554480" y="1883664"/>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今と同じメールアドレスとパスワードでログインします。変わるのはアプリのURLだけで、スマホのホーム画面に追加し直していただきます。</a:t>
            </a:r>
          </a:p>
        </p:txBody>
      </p:sp>
      <p:sp>
        <p:nvSpPr>
          <p:cNvPr id="10" name="Rounded Rectangle 9"/>
          <p:cNvSpPr/>
          <p:nvPr/>
        </p:nvSpPr>
        <p:spPr>
          <a:xfrm>
            <a:off x="548640" y="2569464"/>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77240" y="2679192"/>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12" name="TextBox 11"/>
          <p:cNvSpPr txBox="1"/>
          <p:nvPr/>
        </p:nvSpPr>
        <p:spPr>
          <a:xfrm>
            <a:off x="1554480" y="2642616"/>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今のパスワードはそのまま使えますか?</a:t>
            </a:r>
          </a:p>
        </p:txBody>
      </p:sp>
      <p:sp>
        <p:nvSpPr>
          <p:cNvPr id="13" name="TextBox 12"/>
          <p:cNvSpPr txBox="1"/>
          <p:nvPr/>
        </p:nvSpPr>
        <p:spPr>
          <a:xfrm>
            <a:off x="1554480" y="3081528"/>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はい。今のパスワードを引き継ぎ、最初のログインのときに自動で、より安全な保存方式に置き換わります（切替前に実際に確かめます）。</a:t>
            </a:r>
          </a:p>
        </p:txBody>
      </p:sp>
      <p:sp>
        <p:nvSpPr>
          <p:cNvPr id="14" name="Rounded Rectangle 13"/>
          <p:cNvSpPr/>
          <p:nvPr/>
        </p:nvSpPr>
        <p:spPr>
          <a:xfrm>
            <a:off x="548640" y="3767328"/>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3877056"/>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16" name="TextBox 15"/>
          <p:cNvSpPr txBox="1"/>
          <p:nvPr/>
        </p:nvSpPr>
        <p:spPr>
          <a:xfrm>
            <a:off x="1554480" y="3840480"/>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Googleカレンダーの使い方は変わりますか?</a:t>
            </a:r>
          </a:p>
        </p:txBody>
      </p:sp>
      <p:sp>
        <p:nvSpPr>
          <p:cNvPr id="17" name="TextBox 16"/>
          <p:cNvSpPr txBox="1"/>
          <p:nvPr/>
        </p:nvSpPr>
        <p:spPr>
          <a:xfrm>
            <a:off x="1554480" y="4279392"/>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変わりません。予定はこれまでどおりカレンダーへ。新しいアプリがそれを読んで表示します。</a:t>
            </a:r>
          </a:p>
        </p:txBody>
      </p:sp>
      <p:sp>
        <p:nvSpPr>
          <p:cNvPr id="18" name="Rounded Rectangle 17"/>
          <p:cNvSpPr/>
          <p:nvPr/>
        </p:nvSpPr>
        <p:spPr>
          <a:xfrm>
            <a:off x="548640" y="4965192"/>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5074920"/>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20" name="TextBox 19"/>
          <p:cNvSpPr txBox="1"/>
          <p:nvPr/>
        </p:nvSpPr>
        <p:spPr>
          <a:xfrm>
            <a:off x="1554480" y="5038344"/>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明日の予定のお知らせはどう届きますか?</a:t>
            </a:r>
          </a:p>
        </p:txBody>
      </p:sp>
      <p:sp>
        <p:nvSpPr>
          <p:cNvPr id="21" name="TextBox 20"/>
          <p:cNvSpPr txBox="1"/>
          <p:nvPr/>
        </p:nvSpPr>
        <p:spPr>
          <a:xfrm>
            <a:off x="1554480" y="5477256"/>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毎日19時にスマホへ通知が届きます（各自が設定で一度オンに。iPhoneはホーム画面に追加してから）。押すと明日の予定と道順が開きます。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365760"/>
          </a:xfrm>
          <a:prstGeom prst="rect">
            <a:avLst/>
          </a:prstGeom>
          <a:noFill/>
        </p:spPr>
        <p:txBody>
          <a:bodyPr wrap="square" anchor="t" lIns="0" rIns="0" tIns="0" bIns="0"/>
          <a:lstStyle/>
          <a:p>
            <a:pPr algn="l">
              <a:lnSpc>
                <a:spcPct val="115000"/>
              </a:lnSpc>
              <a:spcAft>
                <a:spcPts val="600"/>
              </a:spcAft>
            </a:pPr>
            <a:r>
              <a:rPr sz="1600" b="1">
                <a:solidFill>
                  <a:srgbClr val="1F8A8A"/>
                </a:solidFill>
                <a:latin typeface="IPAPGothic"/>
                <a:ea typeface="IPAPGothic"/>
                <a:cs typeface="IPAPGothic"/>
              </a:rPr>
              <a:t>Q&amp;A</a:t>
            </a:r>
          </a:p>
        </p:txBody>
      </p:sp>
      <p:sp>
        <p:nvSpPr>
          <p:cNvPr id="3" name="TextBox 2"/>
          <p:cNvSpPr txBox="1"/>
          <p:nvPr/>
        </p:nvSpPr>
        <p:spPr>
          <a:xfrm>
            <a:off x="548640" y="566928"/>
            <a:ext cx="11064240" cy="731520"/>
          </a:xfrm>
          <a:prstGeom prst="rect">
            <a:avLst/>
          </a:prstGeom>
          <a:noFill/>
        </p:spPr>
        <p:txBody>
          <a:bodyPr wrap="square" anchor="t" lIns="0" rIns="0" tIns="0" bIns="0"/>
          <a:lstStyle/>
          <a:p>
            <a:pPr algn="l">
              <a:lnSpc>
                <a:spcPct val="115000"/>
              </a:lnSpc>
              <a:spcAft>
                <a:spcPts val="600"/>
              </a:spcAft>
            </a:pPr>
            <a:r>
              <a:rPr sz="3400" b="1">
                <a:solidFill>
                  <a:srgbClr val="0E4F5C"/>
                </a:solidFill>
                <a:latin typeface="IPAPGothic"/>
                <a:ea typeface="IPAPGothic"/>
                <a:cs typeface="IPAPGothic"/>
              </a:rPr>
              <a:t>よくあるご質問(2)</a:t>
            </a:r>
          </a:p>
        </p:txBody>
      </p:sp>
      <p:sp>
        <p:nvSpPr>
          <p:cNvPr id="4" name="TextBox 3"/>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5B6B70"/>
                </a:solidFill>
                <a:latin typeface="IPAPGothic"/>
                <a:ea typeface="IPAPGothic"/>
                <a:cs typeface="IPAPGothic"/>
              </a:rPr>
              <a:t>新しい訪問業務アプリへの切り替えについて|株式会社キューテスト様</a:t>
            </a:r>
          </a:p>
        </p:txBody>
      </p:sp>
      <p:sp>
        <p:nvSpPr>
          <p:cNvPr id="5" name="TextBox 4"/>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5B6B70"/>
                </a:solidFill>
                <a:latin typeface="IPAPGothic"/>
                <a:ea typeface="IPAPGothic"/>
                <a:cs typeface="IPAPGothic"/>
              </a:rPr>
              <a:t>22 / 23</a:t>
            </a:r>
          </a:p>
        </p:txBody>
      </p:sp>
      <p:sp>
        <p:nvSpPr>
          <p:cNvPr id="6" name="Rounded Rectangle 5"/>
          <p:cNvSpPr/>
          <p:nvPr/>
        </p:nvSpPr>
        <p:spPr>
          <a:xfrm>
            <a:off x="548640" y="1371600"/>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481328"/>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8" name="TextBox 7"/>
          <p:cNvSpPr txBox="1"/>
          <p:nvPr/>
        </p:nvSpPr>
        <p:spPr>
          <a:xfrm>
            <a:off x="1554480" y="1444752"/>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お子様やご家族の情報は安全ですか?</a:t>
            </a:r>
          </a:p>
        </p:txBody>
      </p:sp>
      <p:sp>
        <p:nvSpPr>
          <p:cNvPr id="9" name="TextBox 8"/>
          <p:cNvSpPr txBox="1"/>
          <p:nvPr/>
        </p:nvSpPr>
        <p:spPr>
          <a:xfrm>
            <a:off x="1554480" y="1883664"/>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データベースとそのバックアップ、領収書の画像を、このアプリ専用の鍵で保管場所ごと暗号化します。医療機関向けの国のガイドラインでも一般的な保護の水準です。</a:t>
            </a:r>
          </a:p>
        </p:txBody>
      </p:sp>
      <p:sp>
        <p:nvSpPr>
          <p:cNvPr id="10" name="Rounded Rectangle 9"/>
          <p:cNvSpPr/>
          <p:nvPr/>
        </p:nvSpPr>
        <p:spPr>
          <a:xfrm>
            <a:off x="548640" y="2569464"/>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77240" y="2679192"/>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12" name="TextBox 11"/>
          <p:cNvSpPr txBox="1"/>
          <p:nvPr/>
        </p:nvSpPr>
        <p:spPr>
          <a:xfrm>
            <a:off x="1554480" y="2642616"/>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今までのデータは消えませんか?</a:t>
            </a:r>
          </a:p>
        </p:txBody>
      </p:sp>
      <p:sp>
        <p:nvSpPr>
          <p:cNvPr id="13" name="TextBox 12"/>
          <p:cNvSpPr txBox="1"/>
          <p:nvPr/>
        </p:nvSpPr>
        <p:spPr>
          <a:xfrm>
            <a:off x="1554480" y="3081528"/>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消えません。スタッフ・お客様・今月の出勤簿を取り込んでから切り替えます。今のスプレッドシートも消さずに残します。</a:t>
            </a:r>
          </a:p>
        </p:txBody>
      </p:sp>
      <p:sp>
        <p:nvSpPr>
          <p:cNvPr id="14" name="Rounded Rectangle 13"/>
          <p:cNvSpPr/>
          <p:nvPr/>
        </p:nvSpPr>
        <p:spPr>
          <a:xfrm>
            <a:off x="548640" y="3767328"/>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3877056"/>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16" name="TextBox 15"/>
          <p:cNvSpPr txBox="1"/>
          <p:nvPr/>
        </p:nvSpPr>
        <p:spPr>
          <a:xfrm>
            <a:off x="1554480" y="3840480"/>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スプレッドシートは今後も見られますか?</a:t>
            </a:r>
          </a:p>
        </p:txBody>
      </p:sp>
      <p:sp>
        <p:nvSpPr>
          <p:cNvPr id="17" name="TextBox 16"/>
          <p:cNvSpPr txBox="1"/>
          <p:nvPr/>
        </p:nvSpPr>
        <p:spPr>
          <a:xfrm>
            <a:off x="1554480" y="4279392"/>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これまでの分はそのまま見られます。切替後の記録も書き写すかは選べます（見るだけの写しで、直すのはアプリの画面です。今のアプリ側の準備が必要です）。</a:t>
            </a:r>
          </a:p>
        </p:txBody>
      </p:sp>
      <p:sp>
        <p:nvSpPr>
          <p:cNvPr id="18" name="Rounded Rectangle 17"/>
          <p:cNvSpPr/>
          <p:nvPr/>
        </p:nvSpPr>
        <p:spPr>
          <a:xfrm>
            <a:off x="548640" y="4965192"/>
            <a:ext cx="11091672" cy="1115568"/>
          </a:xfrm>
          <a:prstGeom prst="roundRect">
            <a:avLst>
              <a:gd name="adj" fmla="val 8000"/>
            </a:avLst>
          </a:prstGeom>
          <a:solidFill>
            <a:srgbClr val="E8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5074920"/>
            <a:ext cx="512064" cy="512064"/>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IPAPGothic"/>
                <a:ea typeface="IPAPGothic"/>
                <a:cs typeface="IPAPGothic"/>
              </a:rPr>
              <a:t>Q</a:t>
            </a:r>
          </a:p>
        </p:txBody>
      </p:sp>
      <p:sp>
        <p:nvSpPr>
          <p:cNvPr id="20" name="TextBox 19"/>
          <p:cNvSpPr txBox="1"/>
          <p:nvPr/>
        </p:nvSpPr>
        <p:spPr>
          <a:xfrm>
            <a:off x="1554480" y="5038344"/>
            <a:ext cx="9875520" cy="457200"/>
          </a:xfrm>
          <a:prstGeom prst="rect">
            <a:avLst/>
          </a:prstGeom>
          <a:noFill/>
        </p:spPr>
        <p:txBody>
          <a:bodyPr wrap="square" anchor="ctr" lIns="0" rIns="0" tIns="0" bIns="0"/>
          <a:lstStyle/>
          <a:p>
            <a:pPr algn="l">
              <a:lnSpc>
                <a:spcPct val="115000"/>
              </a:lnSpc>
              <a:spcAft>
                <a:spcPts val="600"/>
              </a:spcAft>
            </a:pPr>
            <a:r>
              <a:rPr sz="2000" b="1">
                <a:solidFill>
                  <a:srgbClr val="0E4F5C"/>
                </a:solidFill>
                <a:latin typeface="IPAPGothic"/>
                <a:ea typeface="IPAPGothic"/>
                <a:cs typeface="IPAPGothic"/>
              </a:rPr>
              <a:t>障害が起きたらどうなりますか?</a:t>
            </a:r>
          </a:p>
        </p:txBody>
      </p:sp>
      <p:sp>
        <p:nvSpPr>
          <p:cNvPr id="21" name="TextBox 20"/>
          <p:cNvSpPr txBox="1"/>
          <p:nvPr/>
        </p:nvSpPr>
        <p:spPr>
          <a:xfrm>
            <a:off x="1554480" y="5477256"/>
            <a:ext cx="9875520" cy="566928"/>
          </a:xfrm>
          <a:prstGeom prst="rect">
            <a:avLst/>
          </a:prstGeom>
          <a:noFill/>
        </p:spPr>
        <p:txBody>
          <a:bodyPr wrap="square" anchor="t" lIns="0" rIns="0" tIns="0" bIns="0"/>
          <a:lstStyle/>
          <a:p>
            <a:pPr algn="l">
              <a:lnSpc>
                <a:spcPct val="115000"/>
              </a:lnSpc>
              <a:spcAft>
                <a:spcPts val="600"/>
              </a:spcAft>
            </a:pPr>
            <a:r>
              <a:rPr sz="1600" b="0">
                <a:solidFill>
                  <a:srgbClr val="1F2D33"/>
                </a:solidFill>
                <a:latin typeface="IPAPGothic"/>
                <a:ea typeface="IPAPGothic"/>
                <a:cs typeface="IPAPGothic"/>
              </a:rPr>
              <a:t>自動で見張り、異常は担当者にメールで届きます。ひとつ前の版やバックアップに戻す手順もあります。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4F5C"/>
        </a:solidFill>
        <a:effectLst/>
      </p:bgPr>
    </p:bg>
    <p:spTree>
      <p:nvGrpSpPr>
        <p:cNvPr id="1" name=""/>
        <p:cNvGrpSpPr/>
        <p:nvPr/>
      </p:nvGrpSpPr>
      <p:grpSpPr/>
      <p:sp>
        <p:nvSpPr>
          <p:cNvPr id="2" name="TextBox 1"/>
          <p:cNvSpPr txBox="1"/>
          <p:nvPr/>
        </p:nvSpPr>
        <p:spPr>
          <a:xfrm>
            <a:off x="548640" y="457200"/>
            <a:ext cx="11064240" cy="731520"/>
          </a:xfrm>
          <a:prstGeom prst="rect">
            <a:avLst/>
          </a:prstGeom>
          <a:noFill/>
        </p:spPr>
        <p:txBody>
          <a:bodyPr wrap="square" anchor="t" lIns="0" rIns="0" tIns="0" bIns="0"/>
          <a:lstStyle/>
          <a:p>
            <a:pPr algn="l">
              <a:lnSpc>
                <a:spcPct val="115000"/>
              </a:lnSpc>
              <a:spcAft>
                <a:spcPts val="600"/>
              </a:spcAft>
            </a:pPr>
            <a:r>
              <a:rPr sz="3400" b="1">
                <a:solidFill>
                  <a:srgbClr val="FFFFFF"/>
                </a:solidFill>
                <a:latin typeface="IPAPGothic"/>
                <a:ea typeface="IPAPGothic"/>
                <a:cs typeface="IPAPGothic"/>
              </a:rPr>
              <a:t>今後の予定・次のステップ</a:t>
            </a:r>
          </a:p>
        </p:txBody>
      </p:sp>
      <p:sp>
        <p:nvSpPr>
          <p:cNvPr id="3" name="TextBox 2"/>
          <p:cNvSpPr txBox="1"/>
          <p:nvPr/>
        </p:nvSpPr>
        <p:spPr>
          <a:xfrm>
            <a:off x="548640" y="6400800"/>
            <a:ext cx="8229600" cy="274320"/>
          </a:xfrm>
          <a:prstGeom prst="rect">
            <a:avLst/>
          </a:prstGeom>
          <a:noFill/>
        </p:spPr>
        <p:txBody>
          <a:bodyPr wrap="square" anchor="t" lIns="0" rIns="0" tIns="0" bIns="0"/>
          <a:lstStyle/>
          <a:p>
            <a:pPr algn="l">
              <a:lnSpc>
                <a:spcPct val="115000"/>
              </a:lnSpc>
              <a:spcAft>
                <a:spcPts val="600"/>
              </a:spcAft>
            </a:pPr>
            <a:r>
              <a:rPr sz="1100" b="0">
                <a:solidFill>
                  <a:srgbClr val="B5D8D6"/>
                </a:solidFill>
                <a:latin typeface="IPAPGothic"/>
                <a:ea typeface="IPAPGothic"/>
                <a:cs typeface="IPAPGothic"/>
              </a:rPr>
              <a:t>新しい訪問業務アプリへの切り替えについて|株式会社キューテスト様</a:t>
            </a:r>
          </a:p>
        </p:txBody>
      </p:sp>
      <p:sp>
        <p:nvSpPr>
          <p:cNvPr id="4" name="TextBox 3"/>
          <p:cNvSpPr txBox="1"/>
          <p:nvPr/>
        </p:nvSpPr>
        <p:spPr>
          <a:xfrm>
            <a:off x="10241280" y="6400800"/>
            <a:ext cx="1399032" cy="274320"/>
          </a:xfrm>
          <a:prstGeom prst="rect">
            <a:avLst/>
          </a:prstGeom>
          <a:noFill/>
        </p:spPr>
        <p:txBody>
          <a:bodyPr wrap="square" anchor="t" lIns="0" rIns="0" tIns="0" bIns="0"/>
          <a:lstStyle/>
          <a:p>
            <a:pPr algn="r">
              <a:lnSpc>
                <a:spcPct val="115000"/>
              </a:lnSpc>
              <a:spcAft>
                <a:spcPts val="600"/>
              </a:spcAft>
            </a:pPr>
            <a:r>
              <a:rPr sz="1100" b="0">
                <a:solidFill>
                  <a:srgbClr val="B5D8D6"/>
                </a:solidFill>
                <a:latin typeface="IPAPGothic"/>
                <a:ea typeface="IPAPGothic"/>
                <a:cs typeface="IPAPGothic"/>
              </a:rPr>
              <a:t>23 / 23</a:t>
            </a:r>
          </a:p>
        </p:txBody>
      </p:sp>
      <p:sp>
        <p:nvSpPr>
          <p:cNvPr id="5" name="Rounded Rectangle 4"/>
          <p:cNvSpPr/>
          <p:nvPr/>
        </p:nvSpPr>
        <p:spPr>
          <a:xfrm>
            <a:off x="548640" y="1417320"/>
            <a:ext cx="2075688" cy="2514600"/>
          </a:xfrm>
          <a:prstGeom prst="roundRect">
            <a:avLst>
              <a:gd name="adj" fmla="val 8000"/>
            </a:avLst>
          </a:prstGeom>
          <a:solidFill>
            <a:srgbClr val="1762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40" y="1645920"/>
            <a:ext cx="566928" cy="566928"/>
          </a:xfrm>
          <a:prstGeom prst="ellipse">
            <a:avLst/>
          </a:prstGeom>
          <a:solidFill>
            <a:srgbClr val="7CC4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4F5C"/>
                </a:solidFill>
                <a:latin typeface="IPAPGothic"/>
                <a:ea typeface="IPAPGothic"/>
                <a:cs typeface="IPAPGothic"/>
              </a:rPr>
              <a:t>1</a:t>
            </a:r>
          </a:p>
        </p:txBody>
      </p:sp>
      <p:sp>
        <p:nvSpPr>
          <p:cNvPr id="7" name="TextBox 6"/>
          <p:cNvSpPr txBox="1"/>
          <p:nvPr/>
        </p:nvSpPr>
        <p:spPr>
          <a:xfrm>
            <a:off x="777240" y="2331720"/>
            <a:ext cx="1737360" cy="457200"/>
          </a:xfrm>
          <a:prstGeom prst="rect">
            <a:avLst/>
          </a:prstGeom>
          <a:noFill/>
        </p:spPr>
        <p:txBody>
          <a:bodyPr wrap="square" anchor="t" lIns="0" rIns="0" tIns="0" bIns="0"/>
          <a:lstStyle/>
          <a:p>
            <a:pPr algn="l">
              <a:lnSpc>
                <a:spcPct val="115000"/>
              </a:lnSpc>
              <a:spcAft>
                <a:spcPts val="600"/>
              </a:spcAft>
            </a:pPr>
            <a:r>
              <a:rPr sz="2100" b="1">
                <a:solidFill>
                  <a:srgbClr val="FFFFFF"/>
                </a:solidFill>
                <a:latin typeface="IPAPGothic"/>
                <a:ea typeface="IPAPGothic"/>
                <a:cs typeface="IPAPGothic"/>
              </a:rPr>
              <a:t>本日</a:t>
            </a:r>
          </a:p>
        </p:txBody>
      </p:sp>
      <p:sp>
        <p:nvSpPr>
          <p:cNvPr id="8" name="TextBox 7"/>
          <p:cNvSpPr txBox="1"/>
          <p:nvPr/>
        </p:nvSpPr>
        <p:spPr>
          <a:xfrm>
            <a:off x="777240" y="2834640"/>
            <a:ext cx="1691640" cy="1051560"/>
          </a:xfrm>
          <a:prstGeom prst="rect">
            <a:avLst/>
          </a:prstGeom>
          <a:noFill/>
        </p:spPr>
        <p:txBody>
          <a:bodyPr wrap="square" anchor="t" lIns="0" rIns="0" tIns="0" bIns="0"/>
          <a:lstStyle/>
          <a:p>
            <a:pPr algn="l">
              <a:lnSpc>
                <a:spcPct val="120000"/>
              </a:lnSpc>
              <a:spcAft>
                <a:spcPts val="600"/>
              </a:spcAft>
            </a:pPr>
            <a:r>
              <a:rPr sz="1600" b="0">
                <a:solidFill>
                  <a:srgbClr val="DDF0EE"/>
                </a:solidFill>
                <a:latin typeface="IPAPGothic"/>
                <a:ea typeface="IPAPGothic"/>
                <a:cs typeface="IPAPGothic"/>
              </a:rPr>
              <a:t>方針のご確認・ご担当者のご相談</a:t>
            </a:r>
          </a:p>
        </p:txBody>
      </p:sp>
      <p:sp>
        <p:nvSpPr>
          <p:cNvPr id="9" name="Rounded Rectangle 8"/>
          <p:cNvSpPr/>
          <p:nvPr/>
        </p:nvSpPr>
        <p:spPr>
          <a:xfrm>
            <a:off x="2807208" y="1417320"/>
            <a:ext cx="2075688" cy="2514600"/>
          </a:xfrm>
          <a:prstGeom prst="roundRect">
            <a:avLst>
              <a:gd name="adj" fmla="val 8000"/>
            </a:avLst>
          </a:prstGeom>
          <a:solidFill>
            <a:srgbClr val="1762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035808" y="1645920"/>
            <a:ext cx="566928" cy="566928"/>
          </a:xfrm>
          <a:prstGeom prst="ellipse">
            <a:avLst/>
          </a:prstGeom>
          <a:solidFill>
            <a:srgbClr val="7CC4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4F5C"/>
                </a:solidFill>
                <a:latin typeface="IPAPGothic"/>
                <a:ea typeface="IPAPGothic"/>
                <a:cs typeface="IPAPGothic"/>
              </a:rPr>
              <a:t>2</a:t>
            </a:r>
          </a:p>
        </p:txBody>
      </p:sp>
      <p:sp>
        <p:nvSpPr>
          <p:cNvPr id="11" name="TextBox 10"/>
          <p:cNvSpPr txBox="1"/>
          <p:nvPr/>
        </p:nvSpPr>
        <p:spPr>
          <a:xfrm>
            <a:off x="3035808" y="2331720"/>
            <a:ext cx="1737360" cy="457200"/>
          </a:xfrm>
          <a:prstGeom prst="rect">
            <a:avLst/>
          </a:prstGeom>
          <a:noFill/>
        </p:spPr>
        <p:txBody>
          <a:bodyPr wrap="square" anchor="t" lIns="0" rIns="0" tIns="0" bIns="0"/>
          <a:lstStyle/>
          <a:p>
            <a:pPr algn="l">
              <a:lnSpc>
                <a:spcPct val="115000"/>
              </a:lnSpc>
              <a:spcAft>
                <a:spcPts val="600"/>
              </a:spcAft>
            </a:pPr>
            <a:r>
              <a:rPr sz="2100" b="1">
                <a:solidFill>
                  <a:srgbClr val="FFFFFF"/>
                </a:solidFill>
                <a:latin typeface="IPAPGothic"/>
                <a:ea typeface="IPAPGothic"/>
                <a:cs typeface="IPAPGothic"/>
              </a:rPr>
              <a:t>準備</a:t>
            </a:r>
          </a:p>
        </p:txBody>
      </p:sp>
      <p:sp>
        <p:nvSpPr>
          <p:cNvPr id="12" name="TextBox 11"/>
          <p:cNvSpPr txBox="1"/>
          <p:nvPr/>
        </p:nvSpPr>
        <p:spPr>
          <a:xfrm>
            <a:off x="3035808" y="2834640"/>
            <a:ext cx="1691640" cy="1051560"/>
          </a:xfrm>
          <a:prstGeom prst="rect">
            <a:avLst/>
          </a:prstGeom>
          <a:noFill/>
        </p:spPr>
        <p:txBody>
          <a:bodyPr wrap="square" anchor="t" lIns="0" rIns="0" tIns="0" bIns="0"/>
          <a:lstStyle/>
          <a:p>
            <a:pPr algn="l">
              <a:lnSpc>
                <a:spcPct val="120000"/>
              </a:lnSpc>
              <a:spcAft>
                <a:spcPts val="600"/>
              </a:spcAft>
            </a:pPr>
            <a:r>
              <a:rPr sz="1600" b="0">
                <a:solidFill>
                  <a:srgbClr val="DDF0EE"/>
                </a:solidFill>
                <a:latin typeface="IPAPGothic"/>
                <a:ea typeface="IPAPGothic"/>
                <a:cs typeface="IPAPGothic"/>
              </a:rPr>
              <a:t>本番の環境の仕上げ・データの取り込み</a:t>
            </a:r>
          </a:p>
        </p:txBody>
      </p:sp>
      <p:sp>
        <p:nvSpPr>
          <p:cNvPr id="13" name="Rounded Rectangle 12"/>
          <p:cNvSpPr/>
          <p:nvPr/>
        </p:nvSpPr>
        <p:spPr>
          <a:xfrm>
            <a:off x="5065776" y="1417320"/>
            <a:ext cx="2075688" cy="2514600"/>
          </a:xfrm>
          <a:prstGeom prst="roundRect">
            <a:avLst>
              <a:gd name="adj" fmla="val 8000"/>
            </a:avLst>
          </a:prstGeom>
          <a:solidFill>
            <a:srgbClr val="1762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294376" y="1645920"/>
            <a:ext cx="566928" cy="566928"/>
          </a:xfrm>
          <a:prstGeom prst="ellipse">
            <a:avLst/>
          </a:prstGeom>
          <a:solidFill>
            <a:srgbClr val="7CC4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4F5C"/>
                </a:solidFill>
                <a:latin typeface="IPAPGothic"/>
                <a:ea typeface="IPAPGothic"/>
                <a:cs typeface="IPAPGothic"/>
              </a:rPr>
              <a:t>3</a:t>
            </a:r>
          </a:p>
        </p:txBody>
      </p:sp>
      <p:sp>
        <p:nvSpPr>
          <p:cNvPr id="15" name="TextBox 14"/>
          <p:cNvSpPr txBox="1"/>
          <p:nvPr/>
        </p:nvSpPr>
        <p:spPr>
          <a:xfrm>
            <a:off x="5294376" y="2331720"/>
            <a:ext cx="1737360" cy="457200"/>
          </a:xfrm>
          <a:prstGeom prst="rect">
            <a:avLst/>
          </a:prstGeom>
          <a:noFill/>
        </p:spPr>
        <p:txBody>
          <a:bodyPr wrap="square" anchor="t" lIns="0" rIns="0" tIns="0" bIns="0"/>
          <a:lstStyle/>
          <a:p>
            <a:pPr algn="l">
              <a:lnSpc>
                <a:spcPct val="115000"/>
              </a:lnSpc>
              <a:spcAft>
                <a:spcPts val="600"/>
              </a:spcAft>
            </a:pPr>
            <a:r>
              <a:rPr sz="2100" b="1">
                <a:solidFill>
                  <a:srgbClr val="FFFFFF"/>
                </a:solidFill>
                <a:latin typeface="IPAPGothic"/>
                <a:ea typeface="IPAPGothic"/>
                <a:cs typeface="IPAPGothic"/>
              </a:rPr>
              <a:t>試用</a:t>
            </a:r>
          </a:p>
        </p:txBody>
      </p:sp>
      <p:sp>
        <p:nvSpPr>
          <p:cNvPr id="16" name="TextBox 15"/>
          <p:cNvSpPr txBox="1"/>
          <p:nvPr/>
        </p:nvSpPr>
        <p:spPr>
          <a:xfrm>
            <a:off x="5294376" y="2834640"/>
            <a:ext cx="1691640" cy="1051560"/>
          </a:xfrm>
          <a:prstGeom prst="rect">
            <a:avLst/>
          </a:prstGeom>
          <a:noFill/>
        </p:spPr>
        <p:txBody>
          <a:bodyPr wrap="square" anchor="t" lIns="0" rIns="0" tIns="0" bIns="0"/>
          <a:lstStyle/>
          <a:p>
            <a:pPr algn="l">
              <a:lnSpc>
                <a:spcPct val="120000"/>
              </a:lnSpc>
              <a:spcAft>
                <a:spcPts val="600"/>
              </a:spcAft>
            </a:pPr>
            <a:r>
              <a:rPr sz="1600" b="0">
                <a:solidFill>
                  <a:srgbClr val="DDF0EE"/>
                </a:solidFill>
                <a:latin typeface="IPAPGothic"/>
                <a:ea typeface="IPAPGothic"/>
                <a:cs typeface="IPAPGothic"/>
              </a:rPr>
              <a:t>事務局と一部のスタッフで試す</a:t>
            </a:r>
          </a:p>
        </p:txBody>
      </p:sp>
      <p:sp>
        <p:nvSpPr>
          <p:cNvPr id="17" name="Rounded Rectangle 16"/>
          <p:cNvSpPr/>
          <p:nvPr/>
        </p:nvSpPr>
        <p:spPr>
          <a:xfrm>
            <a:off x="7324344" y="1417320"/>
            <a:ext cx="2075688" cy="2514600"/>
          </a:xfrm>
          <a:prstGeom prst="roundRect">
            <a:avLst>
              <a:gd name="adj" fmla="val 8000"/>
            </a:avLst>
          </a:prstGeom>
          <a:solidFill>
            <a:srgbClr val="1762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552944" y="1645920"/>
            <a:ext cx="566928" cy="566928"/>
          </a:xfrm>
          <a:prstGeom prst="ellipse">
            <a:avLst/>
          </a:prstGeom>
          <a:solidFill>
            <a:srgbClr val="7CC4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4F5C"/>
                </a:solidFill>
                <a:latin typeface="IPAPGothic"/>
                <a:ea typeface="IPAPGothic"/>
                <a:cs typeface="IPAPGothic"/>
              </a:rPr>
              <a:t>4</a:t>
            </a:r>
          </a:p>
        </p:txBody>
      </p:sp>
      <p:sp>
        <p:nvSpPr>
          <p:cNvPr id="19" name="TextBox 18"/>
          <p:cNvSpPr txBox="1"/>
          <p:nvPr/>
        </p:nvSpPr>
        <p:spPr>
          <a:xfrm>
            <a:off x="7552944" y="2331720"/>
            <a:ext cx="1737360" cy="457200"/>
          </a:xfrm>
          <a:prstGeom prst="rect">
            <a:avLst/>
          </a:prstGeom>
          <a:noFill/>
        </p:spPr>
        <p:txBody>
          <a:bodyPr wrap="square" anchor="t" lIns="0" rIns="0" tIns="0" bIns="0"/>
          <a:lstStyle/>
          <a:p>
            <a:pPr algn="l">
              <a:lnSpc>
                <a:spcPct val="115000"/>
              </a:lnSpc>
              <a:spcAft>
                <a:spcPts val="600"/>
              </a:spcAft>
            </a:pPr>
            <a:r>
              <a:rPr sz="2100" b="1">
                <a:solidFill>
                  <a:srgbClr val="FFFFFF"/>
                </a:solidFill>
                <a:latin typeface="IPAPGothic"/>
                <a:ea typeface="IPAPGothic"/>
                <a:cs typeface="IPAPGothic"/>
              </a:rPr>
              <a:t>切替日</a:t>
            </a:r>
          </a:p>
        </p:txBody>
      </p:sp>
      <p:sp>
        <p:nvSpPr>
          <p:cNvPr id="20" name="TextBox 19"/>
          <p:cNvSpPr txBox="1"/>
          <p:nvPr/>
        </p:nvSpPr>
        <p:spPr>
          <a:xfrm>
            <a:off x="7552944" y="2834640"/>
            <a:ext cx="1691640" cy="1051560"/>
          </a:xfrm>
          <a:prstGeom prst="rect">
            <a:avLst/>
          </a:prstGeom>
          <a:noFill/>
        </p:spPr>
        <p:txBody>
          <a:bodyPr wrap="square" anchor="t" lIns="0" rIns="0" tIns="0" bIns="0"/>
          <a:lstStyle/>
          <a:p>
            <a:pPr algn="l">
              <a:lnSpc>
                <a:spcPct val="120000"/>
              </a:lnSpc>
              <a:spcAft>
                <a:spcPts val="600"/>
              </a:spcAft>
            </a:pPr>
            <a:r>
              <a:rPr sz="1600" b="0">
                <a:solidFill>
                  <a:srgbClr val="DDF0EE"/>
                </a:solidFill>
                <a:latin typeface="IPAPGothic"/>
                <a:ea typeface="IPAPGothic"/>
                <a:cs typeface="IPAPGothic"/>
              </a:rPr>
              <a:t>夜の処理の切り替え・URLと通知のご案内</a:t>
            </a:r>
          </a:p>
        </p:txBody>
      </p:sp>
      <p:sp>
        <p:nvSpPr>
          <p:cNvPr id="21" name="Rounded Rectangle 20"/>
          <p:cNvSpPr/>
          <p:nvPr/>
        </p:nvSpPr>
        <p:spPr>
          <a:xfrm>
            <a:off x="9582912" y="1417320"/>
            <a:ext cx="2075688" cy="2514600"/>
          </a:xfrm>
          <a:prstGeom prst="roundRect">
            <a:avLst>
              <a:gd name="adj" fmla="val 8000"/>
            </a:avLst>
          </a:prstGeom>
          <a:solidFill>
            <a:srgbClr val="1762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811512" y="1645920"/>
            <a:ext cx="566928" cy="566928"/>
          </a:xfrm>
          <a:prstGeom prst="ellipse">
            <a:avLst/>
          </a:prstGeom>
          <a:solidFill>
            <a:srgbClr val="7CC4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E4F5C"/>
                </a:solidFill>
                <a:latin typeface="IPAPGothic"/>
                <a:ea typeface="IPAPGothic"/>
                <a:cs typeface="IPAPGothic"/>
              </a:rPr>
              <a:t>5</a:t>
            </a:r>
          </a:p>
        </p:txBody>
      </p:sp>
      <p:sp>
        <p:nvSpPr>
          <p:cNvPr id="23" name="TextBox 22"/>
          <p:cNvSpPr txBox="1"/>
          <p:nvPr/>
        </p:nvSpPr>
        <p:spPr>
          <a:xfrm>
            <a:off x="9811512" y="2331720"/>
            <a:ext cx="1737360" cy="457200"/>
          </a:xfrm>
          <a:prstGeom prst="rect">
            <a:avLst/>
          </a:prstGeom>
          <a:noFill/>
        </p:spPr>
        <p:txBody>
          <a:bodyPr wrap="square" anchor="t" lIns="0" rIns="0" tIns="0" bIns="0"/>
          <a:lstStyle/>
          <a:p>
            <a:pPr algn="l">
              <a:lnSpc>
                <a:spcPct val="115000"/>
              </a:lnSpc>
              <a:spcAft>
                <a:spcPts val="600"/>
              </a:spcAft>
            </a:pPr>
            <a:r>
              <a:rPr sz="2100" b="1">
                <a:solidFill>
                  <a:srgbClr val="FFFFFF"/>
                </a:solidFill>
                <a:latin typeface="IPAPGothic"/>
                <a:ea typeface="IPAPGothic"/>
                <a:cs typeface="IPAPGothic"/>
              </a:rPr>
              <a:t>確認</a:t>
            </a:r>
          </a:p>
        </p:txBody>
      </p:sp>
      <p:sp>
        <p:nvSpPr>
          <p:cNvPr id="24" name="TextBox 23"/>
          <p:cNvSpPr txBox="1"/>
          <p:nvPr/>
        </p:nvSpPr>
        <p:spPr>
          <a:xfrm>
            <a:off x="9811512" y="2834640"/>
            <a:ext cx="1691640" cy="1051560"/>
          </a:xfrm>
          <a:prstGeom prst="rect">
            <a:avLst/>
          </a:prstGeom>
          <a:noFill/>
        </p:spPr>
        <p:txBody>
          <a:bodyPr wrap="square" anchor="t" lIns="0" rIns="0" tIns="0" bIns="0"/>
          <a:lstStyle/>
          <a:p>
            <a:pPr algn="l">
              <a:lnSpc>
                <a:spcPct val="120000"/>
              </a:lnSpc>
              <a:spcAft>
                <a:spcPts val="600"/>
              </a:spcAft>
            </a:pPr>
            <a:r>
              <a:rPr sz="1600" b="0">
                <a:solidFill>
                  <a:srgbClr val="DDF0EE"/>
                </a:solidFill>
                <a:latin typeface="IPAPGothic"/>
                <a:ea typeface="IPAPGothic"/>
                <a:cs typeface="IPAPGothic"/>
              </a:rPr>
              <a:t>翌朝の確認・古い仕組みを順に停止</a:t>
            </a:r>
          </a:p>
        </p:txBody>
      </p:sp>
      <p:sp>
        <p:nvSpPr>
          <p:cNvPr id="25" name="TextBox 24"/>
          <p:cNvSpPr txBox="1"/>
          <p:nvPr/>
        </p:nvSpPr>
        <p:spPr>
          <a:xfrm>
            <a:off x="548640" y="4206240"/>
            <a:ext cx="10972800" cy="411480"/>
          </a:xfrm>
          <a:prstGeom prst="rect">
            <a:avLst/>
          </a:prstGeom>
          <a:noFill/>
        </p:spPr>
        <p:txBody>
          <a:bodyPr wrap="square" anchor="t" lIns="0" rIns="0" tIns="0" bIns="0"/>
          <a:lstStyle/>
          <a:p>
            <a:pPr algn="l">
              <a:lnSpc>
                <a:spcPct val="115000"/>
              </a:lnSpc>
              <a:spcAft>
                <a:spcPts val="600"/>
              </a:spcAft>
            </a:pPr>
            <a:r>
              <a:rPr sz="2000" b="1">
                <a:solidFill>
                  <a:srgbClr val="7CC4C0"/>
                </a:solidFill>
                <a:latin typeface="IPAPGothic"/>
                <a:ea typeface="IPAPGothic"/>
                <a:cs typeface="IPAPGothic"/>
              </a:rPr>
              <a:t>切り替え前に開発側で行う準備</a:t>
            </a:r>
          </a:p>
        </p:txBody>
      </p:sp>
      <p:sp>
        <p:nvSpPr>
          <p:cNvPr id="26" name="TextBox 25"/>
          <p:cNvSpPr txBox="1"/>
          <p:nvPr/>
        </p:nvSpPr>
        <p:spPr>
          <a:xfrm>
            <a:off x="548640" y="4663440"/>
            <a:ext cx="11064240" cy="1371600"/>
          </a:xfrm>
          <a:prstGeom prst="rect">
            <a:avLst/>
          </a:prstGeom>
          <a:noFill/>
        </p:spPr>
        <p:txBody>
          <a:bodyPr wrap="square" anchor="t" lIns="0" rIns="0" tIns="0" bIns="0"/>
          <a:lstStyle/>
          <a:p>
            <a:pPr algn="l">
              <a:lnSpc>
                <a:spcPct val="120000"/>
              </a:lnSpc>
              <a:spcAft>
                <a:spcPts val="400"/>
              </a:spcAft>
            </a:pPr>
            <a:r>
              <a:rPr sz="1300" b="0">
                <a:solidFill>
                  <a:srgbClr val="7CC4C0"/>
                </a:solidFill>
                <a:latin typeface="IPAPGothic"/>
                <a:ea typeface="IPAPGothic"/>
                <a:cs typeface="IPAPGothic"/>
              </a:rPr>
              <a:t>● </a:t>
            </a:r>
            <a:r>
              <a:rPr sz="1700" b="0">
                <a:solidFill>
                  <a:srgbClr val="FFFFFF"/>
                </a:solidFill>
                <a:latin typeface="IPAPGothic"/>
                <a:ea typeface="IPAPGothic"/>
                <a:cs typeface="IPAPGothic"/>
              </a:rPr>
              <a:t>本番の環境(Google Cloud)は作成済み。実際の環境で通しの動作を確かめる</a:t>
            </a:r>
          </a:p>
          <a:p>
            <a:pPr algn="l">
              <a:lnSpc>
                <a:spcPct val="120000"/>
              </a:lnSpc>
              <a:spcAft>
                <a:spcPts val="400"/>
              </a:spcAft>
            </a:pPr>
            <a:r>
              <a:rPr sz="1300" b="0">
                <a:solidFill>
                  <a:srgbClr val="7CC4C0"/>
                </a:solidFill>
                <a:latin typeface="IPAPGothic"/>
                <a:ea typeface="IPAPGothic"/>
                <a:cs typeface="IPAPGothic"/>
              </a:rPr>
              <a:t>● </a:t>
            </a:r>
            <a:r>
              <a:rPr sz="1700" b="0">
                <a:solidFill>
                  <a:srgbClr val="FFFFFF"/>
                </a:solidFill>
                <a:latin typeface="IPAPGothic"/>
                <a:ea typeface="IPAPGothic"/>
                <a:cs typeface="IPAPGothic"/>
              </a:rPr>
              <a:t>会社と最初の管理者の登録/スタッフの自宅住所（道順の出発点）・予定のカレンダーの登録</a:t>
            </a:r>
          </a:p>
          <a:p>
            <a:pPr algn="l">
              <a:lnSpc>
                <a:spcPct val="120000"/>
              </a:lnSpc>
              <a:spcAft>
                <a:spcPts val="400"/>
              </a:spcAft>
            </a:pPr>
            <a:r>
              <a:rPr sz="1300" b="0">
                <a:solidFill>
                  <a:srgbClr val="7CC4C0"/>
                </a:solidFill>
                <a:latin typeface="IPAPGothic"/>
                <a:ea typeface="IPAPGothic"/>
                <a:cs typeface="IPAPGothic"/>
              </a:rPr>
              <a:t>● </a:t>
            </a:r>
            <a:r>
              <a:rPr sz="1700" b="0">
                <a:solidFill>
                  <a:srgbClr val="FFFFFF"/>
                </a:solidFill>
                <a:latin typeface="IPAPGothic"/>
                <a:ea typeface="IPAPGothic"/>
                <a:cs typeface="IPAPGothic"/>
              </a:rPr>
              <a:t>スマホへの通知の送信の設定/シートへの書き写しを続ける場合、今のアプリ側に受け口を設置</a:t>
            </a:r>
          </a:p>
        </p:txBody>
      </p:sp>
      <p:sp>
        <p:nvSpPr>
          <p:cNvPr id="27" name="TextBox 26"/>
          <p:cNvSpPr txBox="1"/>
          <p:nvPr/>
        </p:nvSpPr>
        <p:spPr>
          <a:xfrm>
            <a:off x="548640" y="5897880"/>
            <a:ext cx="11064240" cy="411480"/>
          </a:xfrm>
          <a:prstGeom prst="rect">
            <a:avLst/>
          </a:prstGeom>
          <a:noFill/>
        </p:spPr>
        <p:txBody>
          <a:bodyPr wrap="square" anchor="t" lIns="0" rIns="0" tIns="0" bIns="0"/>
          <a:lstStyle/>
          <a:p>
            <a:pPr algn="l">
              <a:lnSpc>
                <a:spcPct val="115000"/>
              </a:lnSpc>
              <a:spcAft>
                <a:spcPts val="600"/>
              </a:spcAft>
            </a:pPr>
            <a:r>
              <a:rPr sz="1600" b="1">
                <a:solidFill>
                  <a:srgbClr val="FFFFFF"/>
                </a:solidFill>
                <a:latin typeface="IPAPGothic"/>
                <a:ea typeface="IPAPGothic"/>
                <a:cs typeface="IPAPGothic"/>
              </a:rPr>
              <a:t>お問い合わせ: </a:t>
            </a:r>
            <a:r>
              <a:rPr sz="1600" b="0">
                <a:solidFill>
                  <a:srgbClr val="FFFFFF"/>
                </a:solidFill>
                <a:latin typeface="IPAPGothic"/>
                <a:ea typeface="IPAPGothic"/>
                <a:cs typeface="IPAPGothic"/>
              </a:rPr>
              <a:t>ご不明な点は、開発担当までお気軽にご連絡ください。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