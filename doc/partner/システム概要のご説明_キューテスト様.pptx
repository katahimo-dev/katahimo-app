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本日は、新しい訪問業務アプリの全体像をご説明します。切り替えの進め方は、別の資料「新しい訪問業務アプリへの切り替えについて」でご説明しています。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この資料は、システムの設計書(doc/01 システム概要)の内容を、ITに詳しくない方向けの言葉に直したものです。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スタッフの皆さまが毎日使う機能は、今のアプリとほぼ同じです。新しく加わったのは、スマホへのお知らせと管理者の画面です。スマホではPWA※(ホーム画面に追加して使うWebページ)として使います。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役割は3つです。画面で見えるボタンが違うだけでなく、アプリ本体が操作のたびに役割を確かめるので、画面を細工しても権限の外の操作はできません。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スタッフの1日の流れに沿って、アプリがどこで何をしているかを示しました。19時・22時の処理は自動で動きます。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報告一覧はコーディネーターも使えます。それ以外は管理者だけです。スタッフの登録で自宅の住所を入れると、道順の出発点として使います。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言葉の選び方の規則は、キューテスト様の「日報キーワード表現マスター」の使い方のとおりです。規則はアプリ本体に組み込み、言葉の表は管理者が画面から取り込み・直せます。AIはGoogleのGemini※です。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プリ本体とデータベースは、Googleのデータセンター(東京)で動きます。予定はGoogleカレンダー、道順はGoogleマップ、AIはGeminiを使います。今のアプリで使っていたスプレッドシートへは、必要な間だけ一方向の写しを書き込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のアプリでは、スプレッドシートそのものが記録の置き場でした。新しいアプリでは、記録の正本はデータベースだけで、スプレッドシートは移行の間の写しです。お客様の情報はRESERVAからの取り込みでだけ変わ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夜の処理は、今はApps Script※の時間の決まり(トリガー)で動いているものの置き換えです。19時の予定のお知らせは、今のLINE WORKSのメッセージの置き換えです。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今のアプリでは、画面から送られたスタッフ名をそのまま信じていたため、他の人の日報を上書きできました。新しいアプリではログインした本人から決め、役割もアプリ本体が毎回確かめます。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保存データの暗号化は、医療・介護の情報の取り扱いの指針(3省2ガイドライン)で一般的な水準に合わせています(準拠の認証を受けたという意味ではありません)。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出勤簿の計算・予定の分類・道順は、今のアプリのプログラムを試験の中で動かして、新しいアプリと結果が同じかを確かめています。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設計書(doc/01 5章「主な設計判断」)から、キューテスト様に関わりの大きいものを選んで、言葉を直しました。「引き換えに」は、その作りを選んだことで受け入れた不便や手間です。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iPhoneで通知を受けるには、iOS 16.4以降で、アプリをホーム画面に追加する必要があります。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今のアプリはGAS※(Apps Script)で作られています。直した弱いところの例: 他の人の日報を上書きできた、大事な設定を画面にそのまま返していた、など。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できていないことを、できていることと混ぜずにお伝えします。割り振りの機能は、データの入れ物(表)だけがあり、画面と処理はまだありません。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資料の中で「※」を付けた言葉の説明です。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資料の中で「※」を付けた言葉の説明です。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要点は3つです。ご質問があればお知らせください。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1097280"/>
            <a:ext cx="822960" cy="82296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訪問業務アプリのしくみ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（システム概要のご説明）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69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CFEBE8"/>
                </a:solidFill>
                <a:latin typeface="IPAPGothic"/>
                <a:ea typeface="IPAPGothic"/>
                <a:cs typeface="IPAPGothic"/>
              </a:rPr>
              <a:t>株式会社キューテスト様向け ご説明資料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B5D8D6"/>
                </a:solidFill>
                <a:latin typeface="IPAPGothic"/>
                <a:ea typeface="IPAPGothic"/>
                <a:cs typeface="IPAPGothic"/>
              </a:rPr>
              <a:t>2026年9月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B5D8D6"/>
                </a:solidFill>
                <a:latin typeface="IPAPGothic"/>
                <a:ea typeface="IPAPGothic"/>
                <a:cs typeface="IPAPGothic"/>
              </a:rPr>
              <a:t>新しい訪問業務アプリが「何を・どのように」行っているかを、専門用語を使わずにご説明します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はじめに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この資料について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2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91672" cy="102412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636776"/>
            <a:ext cx="585216" cy="585216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417320"/>
            <a:ext cx="1828800" cy="10241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417320"/>
            <a:ext cx="8138160" cy="10241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新しいアプリが何をしていて、記録をどう守っているかを、全体としてつかんでいただくこと。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11091672" cy="102412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77240" y="2825496"/>
            <a:ext cx="585216" cy="585216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06040"/>
            <a:ext cx="1828800" cy="10241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対象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06040"/>
            <a:ext cx="8138160" cy="10241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経営・事務局のご担当者さま。ITの知識は前提にしていません。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11091672" cy="102412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014216"/>
            <a:ext cx="585216" cy="585216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94760"/>
            <a:ext cx="1828800" cy="10241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言葉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794760"/>
            <a:ext cx="8138160" cy="10241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「※」の付いた言葉は、巻末の用語解説(18〜19ページ）で説明しています。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83480"/>
            <a:ext cx="11091672" cy="102412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5202936"/>
            <a:ext cx="585216" cy="585216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983480"/>
            <a:ext cx="1828800" cy="10241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別の資料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983480"/>
            <a:ext cx="8138160" cy="10241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切り替えの手順・日程・費用は「新しい訪問業務アプリへの切り替えについて」をご覧ください。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ひとことで言うと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3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D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0704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訪問スタッフがスマホで使う、訪問の仕事をまとめて扱うアプリです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3544824" cy="178308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65176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51760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予定と道順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3133344" cy="7772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今日・明日の訪問予定と、訪問先への道順・移動時間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064" y="2423160"/>
            <a:ext cx="3544824" cy="178308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550664" y="265176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6464" y="2651760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お客様の情報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0664" y="3337560"/>
            <a:ext cx="3133344" cy="7772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住所・連絡先・お子様の情報と、これまでの記録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2423160"/>
            <a:ext cx="3544824" cy="178308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24088" y="265176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9888" y="2651760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日報・事故報告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088" y="3337560"/>
            <a:ext cx="3133344" cy="7772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日報・事故報告・ヒヤリハット。日報はAI※が下書き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07408"/>
            <a:ext cx="3544824" cy="178308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77240" y="4636008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636008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領収書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21808"/>
            <a:ext cx="3133344" cy="7772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写真を撮るだけで、AIが金額・お店を読み取って登録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2064" y="4407408"/>
            <a:ext cx="3544824" cy="178308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550664" y="4636008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6464" y="4636008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出勤簿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0664" y="5321808"/>
            <a:ext cx="3133344" cy="7772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予定から自動で記入。月・年度ごとにExcelで保存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5488" y="4407408"/>
            <a:ext cx="3544824" cy="178308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324088" y="4636008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9888" y="4636008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スマホへのお知らせ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4088" y="5321808"/>
            <a:ext cx="3133344" cy="7772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前の晩に、明日の予定をスマホに通知（プッシュ通知※）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使う人と役割（できることの範囲）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4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44824" cy="3749039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645920"/>
            <a:ext cx="640080" cy="64008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45920"/>
            <a:ext cx="2356104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スタッフ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60320"/>
            <a:ext cx="3041904" cy="2560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● </a:t>
            </a: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自分の予定・出勤簿・日報・領収書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● </a:t>
            </a: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全てのお客様の情報と記録を見る（今と同じ）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417320"/>
            <a:ext cx="3544824" cy="3749039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96384" y="1645920"/>
            <a:ext cx="640080" cy="64008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3624" y="1645920"/>
            <a:ext cx="2356104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コーディネーター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6384" y="2560320"/>
            <a:ext cx="3041904" cy="2560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● </a:t>
            </a: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スタッフのできることに加えて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● </a:t>
            </a: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他のスタッフの予定・出勤簿・日報・領収書を扱う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● </a:t>
            </a: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全員分の報告の一覧・書き出し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417320"/>
            <a:ext cx="3544824" cy="3749039"/>
          </a:xfrm>
          <a:prstGeom prst="roundRect">
            <a:avLst>
              <a:gd name="adj" fmla="val 8000"/>
            </a:avLst>
          </a:prstGeom>
          <a:solidFill>
            <a:srgbClr val="D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69808" y="1645920"/>
            <a:ext cx="640080" cy="64008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7048" y="1645920"/>
            <a:ext cx="2356104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管理者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9808" y="2560320"/>
            <a:ext cx="3041904" cy="2560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● </a:t>
            </a: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コーディネーターのできることに加えて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● </a:t>
            </a: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スタッフの登録・変更・退職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● </a:t>
            </a: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AIの設定・操作ログ※の確認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役割※の確かめは、画面だけでなくアプリ本体※が毎回行います。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スタッフが他の人のデータを開こうとしても、本人のデータしか返しません。会社の登録などは開発側の担当者だけが行います。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使われ方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スタッフの1日とアプリ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5 / 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2148840"/>
            <a:ext cx="10607040" cy="0"/>
          </a:xfrm>
          <a:prstGeom prst="line">
            <a:avLst/>
          </a:prstGeom>
          <a:ln w="38100">
            <a:solidFill>
              <a:srgbClr val="7CC4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325880" y="18745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前日 19:00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予定のお知らせ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737360" cy="1691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明日の訪問の時刻とお名前がスマホに届く</a:t>
            </a:r>
          </a:p>
        </p:txBody>
      </p:sp>
      <p:sp>
        <p:nvSpPr>
          <p:cNvPr id="12" name="Oval 11"/>
          <p:cNvSpPr/>
          <p:nvPr/>
        </p:nvSpPr>
        <p:spPr>
          <a:xfrm>
            <a:off x="3566159" y="18745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32588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当日の朝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69748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971800" y="283464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予定と道順を見る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703320"/>
            <a:ext cx="1737360" cy="1691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予定はGoogleカレンダーから。道順と移動時間も出る</a:t>
            </a:r>
          </a:p>
        </p:txBody>
      </p:sp>
      <p:sp>
        <p:nvSpPr>
          <p:cNvPr id="17" name="Oval 16"/>
          <p:cNvSpPr/>
          <p:nvPr/>
        </p:nvSpPr>
        <p:spPr>
          <a:xfrm>
            <a:off x="5806439" y="18745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199" y="132588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訪問の後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9" y="269748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212079" y="283464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日報・領収書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3703320"/>
            <a:ext cx="1737360" cy="1691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メモからAIが日報を下書き。領収書は写真を送るだけ</a:t>
            </a:r>
          </a:p>
        </p:txBody>
      </p:sp>
      <p:sp>
        <p:nvSpPr>
          <p:cNvPr id="22" name="Oval 21"/>
          <p:cNvSpPr/>
          <p:nvPr/>
        </p:nvSpPr>
        <p:spPr>
          <a:xfrm>
            <a:off x="8046719" y="18745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132588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夜 22:00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79" y="269748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52359" y="283464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出勤簿に自動で記入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3703320"/>
            <a:ext cx="1737360" cy="1691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その日の予定から訪問・移動の時間を出勤簿に入れる</a:t>
            </a:r>
          </a:p>
        </p:txBody>
      </p:sp>
      <p:sp>
        <p:nvSpPr>
          <p:cNvPr id="27" name="Oval 26"/>
          <p:cNvSpPr/>
          <p:nvPr/>
        </p:nvSpPr>
        <p:spPr>
          <a:xfrm>
            <a:off x="10286999" y="18745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132588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月末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59" y="269748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692639" y="283464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出勤簿を保存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39" y="3703320"/>
            <a:ext cx="1737360" cy="1691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今月のまとめを確かめ、Excelで保存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※ 出勤簿は今月の分だけ直せます。締めた月は変わりません（記録の正確さ、13ページ）。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使われ方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管理者・コーディネーターの画面（🛠 管理）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6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44824" cy="201168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スタッフ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133344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登録・変更・退職日・削除。パスワード設定の案内メール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417320"/>
            <a:ext cx="3544824" cy="201168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50664" y="16459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6464" y="1645920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報告一覧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0664" y="2331720"/>
            <a:ext cx="3133344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全員分の日報・事故報告を絞り込んで見る・書き出す（コーディネーターも）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417320"/>
            <a:ext cx="3544824" cy="201168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24088" y="16459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9888" y="1645920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AIへの指示文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088" y="2331720"/>
            <a:ext cx="3133344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AIが日報を書くときの指示文を直す。既定に戻すことも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30168"/>
            <a:ext cx="3544824" cy="201168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3858768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858768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日報AIの調整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44568"/>
            <a:ext cx="3133344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教育の言葉の表（キーワード表）を取り込み・直す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2064" y="3630168"/>
            <a:ext cx="3544824" cy="201168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50664" y="3858768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6464" y="3858768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操作ログ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0664" y="4544568"/>
            <a:ext cx="3133344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誰が・いつ・何をしたかを期間などで絞り込んで見る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5488" y="3630168"/>
            <a:ext cx="3544824" cy="201168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24088" y="3858768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9888" y="3858768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出勤簿のExcel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4088" y="4544568"/>
            <a:ext cx="3133344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全員分の出勤簿を1つのファイルで保存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52160"/>
            <a:ext cx="11091672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今はスプレッドシートを直接開いて行っている管理の作業を、アプリの画面で行えるようにしました。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使われ方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日報AIのしくみ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7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691640"/>
            <a:ext cx="585216" cy="585216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0876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お子様の年齢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47672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年齢に合う言葉・場面を選ぶ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77240" y="2971800"/>
            <a:ext cx="585216" cy="585216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889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ご家庭の教育への関心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27832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教育思考★※（★1〜5)に合わせて言葉の専門度を変える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59"/>
            <a:ext cx="585216" cy="585216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69079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保護者のストレス度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507992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PSI※(5〜1)が低いほど、専門的な言葉を控え寄り添う言葉に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06440" y="3108960"/>
            <a:ext cx="731520" cy="0"/>
          </a:xfrm>
          <a:prstGeom prst="line">
            <a:avLst/>
          </a:prstGeom>
          <a:ln w="50800">
            <a:solidFill>
              <a:srgbClr val="7CC4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75120" y="1417320"/>
            <a:ext cx="4965192" cy="3703320"/>
          </a:xfrm>
          <a:prstGeom prst="roundRect">
            <a:avLst>
              <a:gd name="adj" fmla="val 8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949440" y="1600200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AIが日報の下書きを作る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240280"/>
            <a:ext cx="4480560" cy="2834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7CC4C0"/>
                </a:solidFill>
                <a:latin typeface="IPAPGothic"/>
                <a:ea typeface="IPAPGothic"/>
                <a:cs typeface="IPAPGothic"/>
              </a:rPr>
              <a:t>● </a:t>
            </a:r>
            <a:r>
              <a:rPr sz="1700" b="0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会社の言葉の表（キーワード表）から、3つの条件に合う言葉だけを渡す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7CC4C0"/>
                </a:solidFill>
                <a:latin typeface="IPAPGothic"/>
                <a:ea typeface="IPAPGothic"/>
                <a:cs typeface="IPAPGothic"/>
              </a:rPr>
              <a:t>● </a:t>
            </a:r>
            <a:r>
              <a:rPr sz="1700" b="0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スタッフが確かめて直してから保存する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7CC4C0"/>
                </a:solidFill>
                <a:latin typeface="IPAPGothic"/>
                <a:ea typeface="IPAPGothic"/>
                <a:cs typeface="IPAPGothic"/>
              </a:rPr>
              <a:t>● </a:t>
            </a:r>
            <a:r>
              <a:rPr sz="1700" b="0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AIに送った内容と答えを記録に残す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D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1060704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PSI 2・1 の日報を保存すると、</a:t>
            </a: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管理者のスマホとGoogle Chatに自動で知らせます(PSI 1 は「管理者へ連絡」の注意も出します）。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しくみ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全体のしくみ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8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スマホ・パソコン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スタッフ・事務局の皆さま
PWA※としてホーム画面から使う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40" y="3108960"/>
            <a:ext cx="640080" cy="0"/>
          </a:xfrm>
          <a:prstGeom prst="line">
            <a:avLst/>
          </a:prstGeom>
          <a:ln w="50800">
            <a:solidFill>
              <a:srgbClr val="7CC4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23360" y="141732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D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023360" y="1481328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Google Cloud※（東京）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9659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アプリ本体※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6032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DDF0EE"/>
                </a:solidFill>
                <a:latin typeface="IPAPGothic"/>
                <a:ea typeface="IPAPGothic"/>
                <a:cs typeface="IPAPGothic"/>
              </a:rPr>
              <a:t>操作を受けて記録を読み書き
夜の自動処理も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06440" y="3383280"/>
            <a:ext cx="0" cy="548640"/>
          </a:xfrm>
          <a:prstGeom prst="line">
            <a:avLst/>
          </a:prstGeom>
          <a:ln w="38100">
            <a:solidFill>
              <a:srgbClr val="7CC4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4023360"/>
            <a:ext cx="3017520" cy="1645920"/>
          </a:xfrm>
          <a:prstGeom prst="roundRect">
            <a:avLst>
              <a:gd name="adj" fmla="val 8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97680" y="41148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データベース※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66344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DDF0EE"/>
                </a:solidFill>
                <a:latin typeface="IPAPGothic"/>
                <a:ea typeface="IPAPGothic"/>
                <a:cs typeface="IPAPGothic"/>
              </a:rPr>
              <a:t>記録の正本※をまとめて保管
（暗号化※・バックアップ※）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417320"/>
            <a:ext cx="3319272" cy="65836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503920" y="1417320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Googleカレンダー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1417320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訪問の予定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176272"/>
            <a:ext cx="3319272" cy="65836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503920" y="2176272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Googleマップ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2176272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道順・移動時間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2935224"/>
            <a:ext cx="3319272" cy="65836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03920" y="2935224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Gemini(AI)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935224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日報の下書き・領収書の読み取り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694176"/>
            <a:ext cx="3319272" cy="65836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503920" y="3694176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Google 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3694176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社内へのお知らせ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453128"/>
            <a:ext cx="3319272" cy="65836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503920" y="4453128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RESERVA※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4453128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お客様の情報のCSV※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5212079"/>
            <a:ext cx="3319272" cy="65836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503920" y="5212079"/>
            <a:ext cx="17373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スプレッドシート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5212079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今の表への写し※（使うときだけ）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680960" y="3566160"/>
            <a:ext cx="548640" cy="0"/>
          </a:xfrm>
          <a:prstGeom prst="line">
            <a:avLst/>
          </a:prstGeom>
          <a:ln w="50800">
            <a:solidFill>
              <a:srgbClr val="7CC4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外のサービスとは、アプリ本体だけがつながります。スマホから直接つながることはありません。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しくみ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データの流れ ― 正本は1か所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入ってくるもの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お客様の情報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RESERVAのCSVを毎晩3時に取り込む（アプリの画面では直さない）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5468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訪問の予定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Googleカレンダーから読む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2628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日報・領収書など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スタッフが入力する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32588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出ていくもの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08392" y="178308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91271" y="1874519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スプレッドシートへの写し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228600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一方向だけ。シートを直してもアプリには戻らない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08392" y="315468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91271" y="32461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Excel・CSVの書き出し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365760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出勤簿・報告・領収書・操作ログ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08392" y="452628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91271" y="46177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お知らせ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502920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スマホの通知・Google Chat・メール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0" y="3566160"/>
            <a:ext cx="228600" cy="0"/>
          </a:xfrm>
          <a:prstGeom prst="line">
            <a:avLst/>
          </a:prstGeom>
          <a:ln w="50800">
            <a:solidFill>
              <a:srgbClr val="7CC4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892040" y="2194560"/>
            <a:ext cx="2404872" cy="2743200"/>
          </a:xfrm>
          <a:prstGeom prst="roundRect">
            <a:avLst>
              <a:gd name="adj" fmla="val 8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892040" y="2377440"/>
            <a:ext cx="2404872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データベース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971800"/>
            <a:ext cx="2130552" cy="1920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DDF0EE"/>
                </a:solidFill>
                <a:latin typeface="IPAPGothic"/>
                <a:ea typeface="IPAPGothic"/>
                <a:cs typeface="IPAPGothic"/>
              </a:rPr>
              <a:t>記録の正本※は
ここ1か所だけ
他は全て写し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88352" y="3566160"/>
            <a:ext cx="228600" cy="0"/>
          </a:xfrm>
          <a:prstGeom prst="line">
            <a:avLst/>
          </a:prstGeom>
          <a:ln w="50800">
            <a:solidFill>
              <a:srgbClr val="7CC4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正本が1か所なので、「どれが正しい記録か」で迷いません。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しくみ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自動で動く処理（人の操作なしで毎日動く）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10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1672" cy="82296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737360" cy="822960"/>
          </a:xfrm>
          <a:prstGeom prst="roundRect">
            <a:avLst>
              <a:gd name="adj" fmla="val 8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19:00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371600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明日の予定のお知らせ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371600"/>
            <a:ext cx="58521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通知をオンにしたスタッフのスマホに、明日の予定を送る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04288"/>
            <a:ext cx="11091672" cy="82296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48640" y="2304288"/>
            <a:ext cx="1737360" cy="822960"/>
          </a:xfrm>
          <a:prstGeom prst="roundRect">
            <a:avLst>
              <a:gd name="adj" fmla="val 8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2304288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22:00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304288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出勤簿への反映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304288"/>
            <a:ext cx="58521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その日の予定を、全スタッフの出勤簿に入れる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6"/>
            <a:ext cx="11091672" cy="82296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48640" y="3236976"/>
            <a:ext cx="1737360" cy="822960"/>
          </a:xfrm>
          <a:prstGeom prst="roundRect">
            <a:avLst>
              <a:gd name="adj" fmla="val 8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8640" y="3236976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03:00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236976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お客様の情報の取り込み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236976"/>
            <a:ext cx="58521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RESERVAの最新のCSVを取り込む。お客様が2割を超えて消えるときは止めて確認を待つ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69664"/>
            <a:ext cx="11091672" cy="82296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48640" y="4169664"/>
            <a:ext cx="1737360" cy="822960"/>
          </a:xfrm>
          <a:prstGeom prst="roundRect">
            <a:avLst>
              <a:gd name="adj" fmla="val 8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4169664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04:00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169664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整理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169664"/>
            <a:ext cx="58521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保存の期限を過ぎた記録や使われなくなったファイルを片付ける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02352"/>
            <a:ext cx="11091672" cy="82296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48640" y="5102352"/>
            <a:ext cx="1737360" cy="822960"/>
          </a:xfrm>
          <a:prstGeom prst="roundRect">
            <a:avLst>
              <a:gd name="adj" fmla="val 8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48640" y="5102352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10分ごと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102352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送り直しの見回り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5102352"/>
            <a:ext cx="585216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届かなかったお知らせ・写しを送り直す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時刻は日本時間。お知らせ・写しは、ふだんは操作の10〜30秒後に届きます。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データの守り方① ― 見える範囲を絞る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11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31536" cy="210312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4379976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会社ごとの仕切り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0056" cy="10972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複数の会社が使っても、データベース自体が他の会社のデータを見せない・書かせない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417320"/>
            <a:ext cx="5431536" cy="210312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37376" y="16459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1645920"/>
            <a:ext cx="4379976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役割ごとの制限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31720"/>
            <a:ext cx="5020056" cy="10972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スタッフ・コーディネーター・管理者で、見られる・直せる範囲を分ける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431536" cy="210312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3977639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77639"/>
            <a:ext cx="4379976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なりすましを防ぐ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5020056" cy="10972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「誰の記録か」はログインした人から決める。画面から送られた名前は信用しない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3749039"/>
            <a:ext cx="5431536" cy="210312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37376" y="3977639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3977639"/>
            <a:ext cx="4379976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閲覧の記録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663440"/>
            <a:ext cx="5020056" cy="10972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お客様の情報を開いたこと、他の人のデータを見たことを記録に残す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データの守り方② ― 保管とログイン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12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31536" cy="210312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4379976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保管場所ごとの暗号化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0056" cy="10972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データベースとバックアップ、領収書の写真を、このアプリ専用の鍵※で暗号化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417320"/>
            <a:ext cx="5431536" cy="210312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37376" y="16459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1645920"/>
            <a:ext cx="4379976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大事な設定は個別に封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31720"/>
            <a:ext cx="5020056" cy="10972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AIの利用キーやGoogle Chatの送り先は、値そのものも鍵で封をして保管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431536" cy="210312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3977639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77639"/>
            <a:ext cx="4379976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パスワードの保管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5020056" cy="10972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元に戻せない形で保管。今のパスワードのまま新しいアプリにログインできる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3749039"/>
            <a:ext cx="5431536" cy="210312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37376" y="3977639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3977639"/>
            <a:ext cx="4379976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ログインの回数制限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663440"/>
            <a:ext cx="5020056" cy="10972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何度も間違えると一時的に止める（当てずっぽうの総当たりを防ぐ）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正確さ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記録の正確さを保つ工夫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13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44824" cy="210312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同時に直したとき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133344" cy="10972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後から保存した人に「読み直してください」と知らせ、黙って上書きしない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417320"/>
            <a:ext cx="3544824" cy="210312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50664" y="16459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6464" y="1645920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締めた月は固定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0664" y="2331720"/>
            <a:ext cx="3133344" cy="10972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出勤簿は今月の分だけ直せる。締めた月・記録はデータベースが変更を断る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417320"/>
            <a:ext cx="3544824" cy="210312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24088" y="1645920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9888" y="1645920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領収書は消さない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088" y="2331720"/>
            <a:ext cx="3133344" cy="10972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会計の記録なので削除はできない。直すときは取り消して登録し直す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21608"/>
            <a:ext cx="3544824" cy="210312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3950208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50208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重複を見つける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36008"/>
            <a:ext cx="3133344" cy="10972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同じ領収書を2回送っても、2件目は登録しない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2064" y="3721608"/>
            <a:ext cx="3544824" cy="210312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50664" y="3950208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6464" y="3950208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計算は今と同じ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0664" y="4636008"/>
            <a:ext cx="3133344" cy="10972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今のアプリのプログラムを実際に動かし、計算結果が同じかを機械で確かめる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5488" y="3721608"/>
            <a:ext cx="3544824" cy="2103120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24088" y="3950208"/>
            <a:ext cx="548640" cy="548640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9888" y="3950208"/>
            <a:ext cx="2493264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取り込みの歯止め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4088" y="4636008"/>
            <a:ext cx="3133344" cy="109727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お客様の情報が大きく消える取り込みは止めて、確認を待つ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なぜこの作りか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主な設計の判断(1)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14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291840" cy="457200"/>
          </a:xfrm>
          <a:prstGeom prst="roundRect">
            <a:avLst>
              <a:gd name="adj" fmla="val 15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決めたこと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371600"/>
            <a:ext cx="3749039" cy="457200"/>
          </a:xfrm>
          <a:prstGeom prst="roundRect">
            <a:avLst>
              <a:gd name="adj" fmla="val 15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977639" y="1371600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なぜ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776472" cy="457200"/>
          </a:xfrm>
          <a:prstGeom prst="roundRect">
            <a:avLst>
              <a:gd name="adj" fmla="val 15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0" y="1371600"/>
            <a:ext cx="3776472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引き換えに（ご不便・手間）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38528"/>
            <a:ext cx="3291840" cy="987552"/>
          </a:xfrm>
          <a:prstGeom prst="roundRect">
            <a:avLst>
              <a:gd name="adj" fmla="val 8000"/>
            </a:avLst>
          </a:prstGeom>
          <a:solidFill>
            <a:srgbClr val="D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" y="1938528"/>
            <a:ext cx="30175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記録の正本はデータベース1か所。シートは写し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938528"/>
            <a:ext cx="3749039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142231" y="1938528"/>
            <a:ext cx="34747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同時の保存・決まりの確認・変更の履歴を、確実に守れる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938528"/>
            <a:ext cx="3776472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28431" y="1938528"/>
            <a:ext cx="3502152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スプレッドシートを直しても、アプリには反映されない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35808"/>
            <a:ext cx="3291840" cy="987552"/>
          </a:xfrm>
          <a:prstGeom prst="roundRect">
            <a:avLst>
              <a:gd name="adj" fmla="val 8000"/>
            </a:avLst>
          </a:prstGeom>
          <a:solidFill>
            <a:srgbClr val="D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035808"/>
            <a:ext cx="30175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複数の会社を1つの仕組みで扱い、データベースで仕切る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035808"/>
            <a:ext cx="3749039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142231" y="3035808"/>
            <a:ext cx="34747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会社ごとに作るより運用が軽く、仕切りの設定し忘れでも他社のデータは見えない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035808"/>
            <a:ext cx="3776472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028431" y="3035808"/>
            <a:ext cx="3502152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開発側の手間が増える（自動の試験で毎回確かめる）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33087"/>
            <a:ext cx="3291840" cy="987552"/>
          </a:xfrm>
          <a:prstGeom prst="roundRect">
            <a:avLst>
              <a:gd name="adj" fmla="val 8000"/>
            </a:avLst>
          </a:prstGeom>
          <a:solidFill>
            <a:srgbClr val="D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133087"/>
            <a:ext cx="30175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保管場所ごとの暗号化に、権限・記録・回数制限を組み合わせる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4133087"/>
            <a:ext cx="3749039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142231" y="4133087"/>
            <a:ext cx="34747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医療・介護で一般的な水準。検索や集計をそのまま使え、作りが単純になる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133087"/>
            <a:ext cx="3776472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028431" y="4133087"/>
            <a:ext cx="3502152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権限のある担当者には中身が見える（操作の記録で見張る）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230368"/>
            <a:ext cx="3291840" cy="987552"/>
          </a:xfrm>
          <a:prstGeom prst="roundRect">
            <a:avLst>
              <a:gd name="adj" fmla="val 8000"/>
            </a:avLst>
          </a:prstGeom>
          <a:solidFill>
            <a:srgbClr val="D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230368"/>
            <a:ext cx="30175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外への送信は「送る予定の箱」にためてから送る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77639" y="5230368"/>
            <a:ext cx="3749039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142231" y="5230368"/>
            <a:ext cx="34747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保存と送信を切り離し、失敗しても自動で送り直せる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5230368"/>
            <a:ext cx="3776472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028431" y="5230368"/>
            <a:ext cx="3502152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お知らせは操作から数十秒遅れて届く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なぜこの作りか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主な設計の判断(2)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15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291840" cy="457200"/>
          </a:xfrm>
          <a:prstGeom prst="roundRect">
            <a:avLst>
              <a:gd name="adj" fmla="val 15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決めたこと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371600"/>
            <a:ext cx="3749039" cy="457200"/>
          </a:xfrm>
          <a:prstGeom prst="roundRect">
            <a:avLst>
              <a:gd name="adj" fmla="val 15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977639" y="1371600"/>
            <a:ext cx="3749039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なぜ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776472" cy="457200"/>
          </a:xfrm>
          <a:prstGeom prst="roundRect">
            <a:avLst>
              <a:gd name="adj" fmla="val 15000"/>
            </a:avLst>
          </a:prstGeom>
          <a:solidFill>
            <a:srgbClr val="0E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0" y="1371600"/>
            <a:ext cx="3776472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引き換えに（ご不便・手間）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38528"/>
            <a:ext cx="3291840" cy="987552"/>
          </a:xfrm>
          <a:prstGeom prst="roundRect">
            <a:avLst>
              <a:gd name="adj" fmla="val 8000"/>
            </a:avLst>
          </a:prstGeom>
          <a:solidFill>
            <a:srgbClr val="D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" y="1938528"/>
            <a:ext cx="30175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お客様の情報はRESERVAからだけ取り込む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938528"/>
            <a:ext cx="3749039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142231" y="1938528"/>
            <a:ext cx="34747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正本はRESERVA。アプリでも直すと、次の取り込みで上書きされ食い違う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938528"/>
            <a:ext cx="3776472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28431" y="1938528"/>
            <a:ext cx="3502152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直すときはRESERVA側で直し、夜の取り込み(3時）を待つ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35808"/>
            <a:ext cx="3291840" cy="987552"/>
          </a:xfrm>
          <a:prstGeom prst="roundRect">
            <a:avLst>
              <a:gd name="adj" fmla="val 8000"/>
            </a:avLst>
          </a:prstGeom>
          <a:solidFill>
            <a:srgbClr val="D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035808"/>
            <a:ext cx="30175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お知らせはLINE WORKSからスマホの通知へ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035808"/>
            <a:ext cx="3749039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142231" y="3035808"/>
            <a:ext cx="34747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外部のアカウントや連携なしで届く。送るのは時刻とお名前だけ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035808"/>
            <a:ext cx="3776472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028431" y="3035808"/>
            <a:ext cx="3502152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スマホごとに通知をオンにする。iPhoneはホーム画面への追加が要る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33087"/>
            <a:ext cx="3291840" cy="987552"/>
          </a:xfrm>
          <a:prstGeom prst="roundRect">
            <a:avLst>
              <a:gd name="adj" fmla="val 8000"/>
            </a:avLst>
          </a:prstGeom>
          <a:solidFill>
            <a:srgbClr val="D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133087"/>
            <a:ext cx="30175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領収書は削除・編集をさせず、取り消しだけ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4133087"/>
            <a:ext cx="3749039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142231" y="4133087"/>
            <a:ext cx="34747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会計の記録が消えない・書き換わらないことを仕組みで守る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133087"/>
            <a:ext cx="3776472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028431" y="4133087"/>
            <a:ext cx="3502152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直すときは取り消して登録し直す手間がかかる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230368"/>
            <a:ext cx="3291840" cy="987552"/>
          </a:xfrm>
          <a:prstGeom prst="roundRect">
            <a:avLst>
              <a:gd name="adj" fmla="val 8000"/>
            </a:avLst>
          </a:prstGeom>
          <a:solidFill>
            <a:srgbClr val="D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230368"/>
            <a:ext cx="30175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使った分だけの費用の仕組み(Google Cloud)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77639" y="5230368"/>
            <a:ext cx="3749039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142231" y="5230368"/>
            <a:ext cx="3474720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使っていない時間の費用がかからない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5230368"/>
            <a:ext cx="3776472" cy="98755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028431" y="5230368"/>
            <a:ext cx="3502152" cy="9875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しばらく使わなかった後の最初の表示は、少し待つことがある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今のアプリ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今のアプリとの関係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16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91672" cy="107899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664208"/>
            <a:ext cx="585216" cy="585216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417320"/>
            <a:ext cx="2011680" cy="10789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17320"/>
            <a:ext cx="7955279" cy="10789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今の画面を出発点に作り、慣れたスタッフがそのまま使える。改良は新しいアプリの中で行う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11091672" cy="107899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77240" y="2898648"/>
            <a:ext cx="585216" cy="585216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51760"/>
            <a:ext cx="2011680" cy="10789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計算の結果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51760"/>
            <a:ext cx="7955279" cy="10789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出勤簿の計算・予定の分類・道順は、今のアプリと同じ結果になることを機械で確かめる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11091672" cy="1078992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133087"/>
            <a:ext cx="585216" cy="585216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886200"/>
            <a:ext cx="2011680" cy="10789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中身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886200"/>
            <a:ext cx="7955279" cy="10789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記録の置き場・守り方・動かし方は作り直し。今のアプリの弱いところは直した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8000"/>
            </a:avLst>
          </a:prstGeom>
          <a:solidFill>
            <a:srgbClr val="D3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10607040" cy="9601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目標: </a:t>
            </a: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今のアプリでできることは全てでき、そのうえで良くなっていること。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機能ごとの比べ（同じ・良くなった・変わった）は、開発側の資料「GAS版との機能比較」にまとめています。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今後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まだできていないこと・これから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17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527048"/>
            <a:ext cx="530352" cy="530352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71600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本番の環境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6629400" cy="8412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設計図（設定のファイル）はできている。Google Cloudでの構築と確認はこれから（切り替えの前に行う）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22576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77240" y="2478024"/>
            <a:ext cx="530352" cy="530352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22576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アプリでのお客様の管理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22576"/>
            <a:ext cx="6629400" cy="8412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今はRESERVAからの取り込みだけ。RESERVAからの自動の反映も今後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73552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3429000"/>
            <a:ext cx="530352" cy="530352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73552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スタッフの割り振り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73552"/>
            <a:ext cx="6629400" cy="8412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管理者がスタッフを訪問に割り振る機能。データの入れ物だけ用意してある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8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379976"/>
            <a:ext cx="530352" cy="530352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24528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Googleアカウントでのログイン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224528"/>
            <a:ext cx="6629400" cy="8412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今はメールアドレスとパスワードでログイン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75504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77240" y="5330952"/>
            <a:ext cx="530352" cy="530352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175504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管理者の二段階の確認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175504"/>
            <a:ext cx="6629400" cy="8412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パスワードに加えてもう1つで本人を確かめる仕組み（多要素認証）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巻末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用語解説(1)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18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アプリ本体（サーバー）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325880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スマホからの操作を受けて、記録を読み書きするプログラム。Googleの設備（東京）で動く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1325880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45936" y="1325880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データベース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6215" y="1325880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記録をまとめて保管する専用の入れ物。決まりに合わないデータは受け付けない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13432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313432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正本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313432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「これが正しい」とする元の記録。他の場所にあるのは写し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5" y="2313432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45936" y="2313432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写し（ミラー）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6215" y="2313432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正本の内容を別の場所（今のスプレッドシート）に一方向で書き写したもの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00984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3300984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Google Cloud（クラウド）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300984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自社でサーバーを持たず、Googleの設備を借りて使う形。使った分だけの費用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3300984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45936" y="3300984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PWA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5" y="3300984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ホーム画面に追加すると、アプリのように使えるWebページ。アプリストアからの入手は不要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88536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4288536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プッシュ通知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4288536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アプリを開いていなくても、スマホに届くお知らせ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5" y="4288536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45936" y="4288536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暗号化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86215" y="4288536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鍵が無いと読めない形にしてデータを保管すること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276088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31520" y="5276088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専用の鍵(CMEK)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5276088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暗号化の鍵をこのアプリ専用に用意し、使える人と鍵の交換を自分たちで管理する方式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8A8A"/>
                </a:solidFill>
                <a:latin typeface="IPAPGothic"/>
                <a:ea typeface="IPAPGothic"/>
                <a:cs typeface="IPAPGothic"/>
              </a:rPr>
              <a:t>巻末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用語解説(2)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B6B70"/>
                </a:solidFill>
                <a:latin typeface="IPAPGothic"/>
                <a:ea typeface="IPAPGothic"/>
                <a:cs typeface="IPAPGothic"/>
              </a:rPr>
              <a:t>19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役割（権限）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325880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スタッフ・コーディネーター・管理者で、見られる・直せる範囲を分けること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1325880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45936" y="1325880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操作ログ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6215" y="1325880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誰が・いつ・何をしたかの記録。後から確かめられる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13432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313432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バックアップ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313432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万一に備えたデータの控え。一定の期間の、ある時点の状態に戻せる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5" y="2313432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45936" y="2313432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RESERVA（レセルバ）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6215" y="2313432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予約の管理に使っているシステム。お客様の情報の正本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00984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3300984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300984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表のデータを文字だけで書いたファイル。Excelでも開ける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3300984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45936" y="3300984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AI(Gemini)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5" y="3300984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Googleの、文章を作ったり画像を読んだりするAI。日報の下書きと領収書の読み取りに使う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88536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4288536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PSI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4288536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保護者のストレス度の5段階(5=安心・良好〜1=危険・緊急）。訪問ごとにスタッフが付ける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5" y="4288536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45936" y="4288536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教育思考★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86215" y="4288536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ご家庭の教育への関心の度合い（★1〜5)。お客様の情報の画面でスタッフが付ける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276088"/>
            <a:ext cx="5477256" cy="877824"/>
          </a:xfrm>
          <a:prstGeom prst="roundRect">
            <a:avLst>
              <a:gd name="adj" fmla="val 8000"/>
            </a:avLst>
          </a:prstGeom>
          <a:solidFill>
            <a:srgbClr val="E8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31520" y="5276088"/>
            <a:ext cx="219456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GAS(Apps Script)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5276088"/>
            <a:ext cx="2926080" cy="8778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D33"/>
                </a:solidFill>
                <a:latin typeface="IPAPGothic"/>
                <a:ea typeface="IPAPGothic"/>
                <a:cs typeface="IPAPGothic"/>
              </a:rPr>
              <a:t>今のアプリの作りに使っている、Googleのプログラムの仕組み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B5D8D6"/>
                </a:solidFill>
                <a:latin typeface="IPAPGothic"/>
                <a:ea typeface="IPAPGothic"/>
                <a:cs typeface="IPAPGothic"/>
              </a:rPr>
              <a:t>訪問業務アプリのしくみ（システム概要）|株式会社キューテスト様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B5D8D6"/>
                </a:solidFill>
                <a:latin typeface="IPAPGothic"/>
                <a:ea typeface="IPAPGothic"/>
                <a:cs typeface="IPAPGothic"/>
              </a:rPr>
              <a:t>20 /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17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68680" y="1691640"/>
            <a:ext cx="685800" cy="685800"/>
          </a:xfrm>
          <a:prstGeom prst="ellipse">
            <a:avLst/>
          </a:prstGeom>
          <a:solidFill>
            <a:srgbClr val="7C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スタッフの使い方は今のまま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2926080" cy="1783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DDF0EE"/>
                </a:solidFill>
                <a:latin typeface="IPAPGothic"/>
                <a:ea typeface="IPAPGothic"/>
                <a:cs typeface="IPAPGothic"/>
              </a:rPr>
              <a:t>今の画面をもとに作り、予定・日報・領収書・出勤簿をスマホで扱う。お知らせと管理の画面が加わる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1732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17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17719" y="1691640"/>
            <a:ext cx="685800" cy="685800"/>
          </a:xfrm>
          <a:prstGeom prst="ellipse">
            <a:avLst/>
          </a:prstGeom>
          <a:solidFill>
            <a:srgbClr val="7C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5603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記録は1か所で、正確に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611880"/>
            <a:ext cx="2926080" cy="1783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DDF0EE"/>
                </a:solidFill>
                <a:latin typeface="IPAPGothic"/>
                <a:ea typeface="IPAPGothic"/>
                <a:cs typeface="IPAPGothic"/>
              </a:rPr>
              <a:t>正本はデータベースだけ。同時の保存・締めた月・領収書を仕組みで守り、計算は今のアプリと同じ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1732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17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366759" y="1691640"/>
            <a:ext cx="685800" cy="685800"/>
          </a:xfrm>
          <a:prstGeom prst="ellipse">
            <a:avLst/>
          </a:prstGeom>
          <a:solidFill>
            <a:srgbClr val="7C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0E4F5C"/>
                </a:solidFill>
                <a:latin typeface="IPAPGothic"/>
                <a:ea typeface="IPAPGothic"/>
                <a:cs typeface="IPAP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5603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何重にも守る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611880"/>
            <a:ext cx="2926080" cy="1783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DDF0EE"/>
                </a:solidFill>
                <a:latin typeface="IPAPGothic"/>
                <a:ea typeface="IPAPGothic"/>
                <a:cs typeface="IPAPGothic"/>
              </a:rPr>
              <a:t>会社ごとの仕切り・役割ごとの制限・専用の鍵での暗号化・操作の記録・ログインの回数制限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お問い合わせ: </a:t>
            </a:r>
            <a:r>
              <a:rPr sz="1600" b="0">
                <a:solidFill>
                  <a:srgbClr val="FFFFFF"/>
                </a:solidFill>
                <a:latin typeface="IPAPGothic"/>
                <a:ea typeface="IPAPGothic"/>
                <a:cs typeface="IPAPGothic"/>
              </a:rPr>
              <a:t>ご不明な点は、開発担当までお気軽にご連絡ください。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